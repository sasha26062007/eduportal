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ТАЙМІНГ: 0:00 - 1:00 (1 хв)</a:t>
            </a:r>
          </a:p>
          <a:p>
            <a:r>
              <a:t>ТЕЗИ ДЛЯ ВИСТУПУ:</a:t>
            </a:r>
          </a:p>
          <a:p>
            <a:r>
              <a:t>1. Вітання викладачу та опонентам. Представлення команди EduGuard та продукту №6 «ЕдуПортал» (LMS-система).</a:t>
            </a:r>
          </a:p>
          <a:p>
            <a:r>
              <a:t>2. Мета Спринта 1: закласти якісний фундамент — профіль продукту, BPMN 2.0 моделі, беклог вимог із критеріями прийняття та налаштувати командний процес.</a:t>
            </a:r>
          </a:p>
          <a:p>
            <a:r>
              <a:t>3. Розподіл ролей у Спринті 1: Денис — КТ+СМ, Олександр — ІТ, Володимир — 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ТАЙМІНГ: 1:00 - 2:00 (1 хв)</a:t>
            </a:r>
          </a:p>
          <a:p>
            <a:r>
              <a:t>ТЕЗИ ДЛЯ ВИСТУПУ:</a:t>
            </a:r>
          </a:p>
          <a:p>
            <a:r>
              <a:t>1. «ЕдуПортал» — масштабована навчальна платформа з 4 рольовими групами.</a:t>
            </a:r>
          </a:p>
          <a:p>
            <a:r>
              <a:t>2. У Статуті команди зафіксовано правила: щоденні стендапи, крос-рев'ю та Definition of Done.</a:t>
            </a:r>
          </a:p>
          <a:p>
            <a:r>
              <a:t>3. Відповідно до вимог курсу (§5.2), ми заздалегідь спланували матрицю ротації на всі 5 спринтів, де обов'язки КТ+СМ, ІТ та ТА циклічно переходять між Денисом, Олександром та Володимиром.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ТАЙМІНГ: 2:00 - 3:00 (1 хв)</a:t>
            </a:r>
          </a:p>
          <a:p>
            <a:r>
              <a:t>ТЕЗИ ДЛЯ ВИСТУПУ:</a:t>
            </a:r>
          </a:p>
          <a:p>
            <a:r>
              <a:t>1. Для системи «ЕдуПортал» ми виділили 4 наскрізні процеси, що охоплюють увесь життєвий цикл навчання.</a:t>
            </a:r>
          </a:p>
          <a:p>
            <a:r>
              <a:t>2. Процеси 1 та 2 описані у специфікації product.md.</a:t>
            </a:r>
          </a:p>
          <a:p>
            <a:r>
              <a:t>3. Процеси 3 та 4 (Тестування та Створення курсу) детально змодельовані у форматі BPMN 2.0 та перевірені за 10-пунктовим інженерним чек-листом.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ТАЙМІНГ: 3:00 - 4:30 (1.5 хв)</a:t>
            </a:r>
          </a:p>
          <a:p>
            <a:r>
              <a:t>ТЕЗИ ДЛЯ ВИСТУПУ:</a:t>
            </a:r>
          </a:p>
          <a:p>
            <a:r>
              <a:t>1. У моделі тестування 01_testing.bpmn реалізовано взаємодію двох учасників: студента та LMS-серверу через 5 інформаційних потоків повідомлень.</a:t>
            </a:r>
          </a:p>
          <a:p>
            <a:r>
              <a:t>2. Циклічну роботу студента оформлено як розгорнутий підпроцес.</a:t>
            </a:r>
          </a:p>
          <a:p>
            <a:r>
              <a:t>3. Контроль дедлайну спроби реалізовано через Event-Based Gateway: система однаково коректно обробляє як ручне завершення, так і спрацювання таймера.</a:t>
            </a:r>
          </a:p>
          <a:p>
            <a:r>
              <a:t>4. Діаграма повністю сумісна з bpmn.io.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ТАЙМІНГ: 4:30 - 6:00 (1.5 хв)</a:t>
            </a:r>
          </a:p>
          <a:p>
            <a:r>
              <a:t>ТЕЗИ ДЛЯ ВИСТУПУ:</a:t>
            </a:r>
          </a:p>
          <a:p>
            <a:r>
              <a:t>1. У моделі створення курсу 02_course_creation.bpmn реалізовано розгалуження на 4 паралельні потоки (AND Fork).</a:t>
            </a:r>
          </a:p>
          <a:p>
            <a:r>
              <a:t>2. Особливий акцент — безпека потоків: петля повернення після аудиту входить у спеціальний XOR Merge перед паралельним шлюзом, що запобігає блокуванню процесу (deadlock-free).</a:t>
            </a:r>
          </a:p>
          <a:p>
            <a:r>
              <a:t>3. Тільки після затвердження менеджером курс автоматично публікується в LMS.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ТАЙМІНГ: 6:00 - 7:15 (1.15 хв)</a:t>
            </a:r>
          </a:p>
          <a:p>
            <a:r>
              <a:t>ТЕЗИ ДЛЯ ВИСТУПУ:</a:t>
            </a:r>
          </a:p>
          <a:p>
            <a:r>
              <a:t>1. Беклог містить 12 деталізованих User Stories від живих користувачів.</a:t>
            </a:r>
          </a:p>
          <a:p>
            <a:r>
              <a:t>2. Для усунення розбіжностей формула штрафу за дедлайн уніфікована через математичну функцію стелі ⌈Δt⌉.</a:t>
            </a:r>
          </a:p>
          <a:p>
            <a:r>
              <a:t>3. Кожна вимога замовника EXP-01..06 трасована на відповідні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ТАЙМІНГ: 7:15 - 8:15 (1 хв)</a:t>
            </a:r>
          </a:p>
          <a:p>
            <a:r>
              <a:t>ТЕЗИ ДЛЯ ВИСТУПУ:</a:t>
            </a:r>
          </a:p>
          <a:p>
            <a:r>
              <a:t>1. Фактичні витрати склали 31.1 год (у середньому 10.4 год на людину при нормі 8–12 год).</a:t>
            </a:r>
          </a:p>
          <a:p>
            <a:r>
              <a:t>2. Перевитрата часу (+6.6 год) зумовлена виправленням тонких інженерних нюансів у BPMN XML та формалізацією Acceptance Criteria.</a:t>
            </a:r>
          </a:p>
          <a:p>
            <a:r>
              <a:t>3. Тайм-трекінг вівся щоденно з 16 по 25 вересня.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ТАЙМІНГ: 8:15 - 9:15 (1 хв)</a:t>
            </a:r>
          </a:p>
          <a:p>
            <a:r>
              <a:t>ТЕЗИ ДЛЯ ВИСТУПУ:</a:t>
            </a:r>
          </a:p>
          <a:p>
            <a:r>
              <a:t>1. У межах ретроспективи Спринта 1 ми зафіксували уроки в форматі Start/Stop/Continue.</a:t>
            </a:r>
          </a:p>
          <a:p>
            <a:r>
              <a:t>2. Головні висновки: закладати 20% резерву часу на доопрацювання та проводити рев'ю завчасно.</a:t>
            </a:r>
          </a:p>
          <a:p>
            <a:r>
              <a:t>3. Усі рішення мають закріплених відповідальних осіб.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ТАЙМІНГ: 9:15 - 10:00 (45 сек)</a:t>
            </a:r>
          </a:p>
          <a:p>
            <a:r>
              <a:t>ТЕЗИ ДЛЯ ВИСТУПУ:</a:t>
            </a:r>
          </a:p>
          <a:p>
            <a:r>
              <a:t>1. Підсумок: усі вимоги Спринта 1 виконано в повному обсязі, артефакти зафіксовані в Git.</a:t>
            </a:r>
          </a:p>
          <a:p>
            <a:r>
              <a:t>2. Дякуємо за увагу, готові до запитань комісії!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137160" cy="41148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0A5FA"/>
                </a:solidFill>
              </a:defRPr>
            </a:pPr>
            <a:r>
              <a:t>КУРС «ТЕХНОЛОГІЇ ЗАБЕЗПЕЧЕННЯ ЯКОСТІ ПРОГРАМНИХ ЗАСОБІВ»</a:t>
            </a:r>
          </a:p>
          <a:p>
            <a:pPr>
              <a:spcBef>
                <a:spcPts val="1400"/>
              </a:spcBef>
              <a:spcAft>
                <a:spcPts val="1400"/>
              </a:spcAft>
              <a:defRPr sz="3200" b="1">
                <a:solidFill>
                  <a:srgbClr val="FFFFFF"/>
                </a:solidFill>
              </a:defRPr>
            </a:pPr>
            <a:r>
              <a:t>Звіт за результатами Спринта 1:</a:t>
            </a:r>
            <a:br/>
            <a:r>
              <a:t>«Продукт і вимоги»</a:t>
            </a:r>
          </a:p>
          <a:p>
            <a:pPr>
              <a:spcAft>
                <a:spcPts val="2800"/>
              </a:spcAft>
              <a:defRPr sz="1800">
                <a:solidFill>
                  <a:srgbClr val="CBD5E1"/>
                </a:solidFill>
              </a:defRPr>
            </a:pPr>
            <a:r>
              <a:t>Продукт: «ЕдуПортал» (LMS, Продукт №6) | Команда: EduGuard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2976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94A3B8"/>
                </a:solidFill>
              </a:defRPr>
            </a:pPr>
            <a:r>
              <a:t>СКЛАД КОМАНДИ ТА РОЛІ В СПРИНТІ 1:</a:t>
            </a:r>
          </a:p>
          <a:p>
            <a:pPr>
              <a:spcAft>
                <a:spcPts val="300"/>
              </a:spcAft>
              <a:defRPr sz="1300">
                <a:solidFill>
                  <a:srgbClr val="F1F5F9"/>
                </a:solidFill>
              </a:defRPr>
            </a:pPr>
            <a:r>
              <a:t>•  Денис Бучинський (Denchik) — Керівник тестування (КТ) + Скрам-майстер (СМ)</a:t>
            </a:r>
          </a:p>
          <a:p>
            <a:pPr>
              <a:spcAft>
                <a:spcPts val="300"/>
              </a:spcAft>
              <a:defRPr sz="1300">
                <a:solidFill>
                  <a:srgbClr val="F1F5F9"/>
                </a:solidFill>
              </a:defRPr>
            </a:pPr>
            <a:r>
              <a:t>•  Олександр (5ani0chek) — Інженер з тестування (ІТ)</a:t>
            </a:r>
          </a:p>
          <a:p>
            <a:pPr>
              <a:spcAft>
                <a:spcPts val="300"/>
              </a:spcAft>
              <a:defRPr sz="1300">
                <a:solidFill>
                  <a:srgbClr val="F1F5F9"/>
                </a:solidFill>
              </a:defRPr>
            </a:pPr>
            <a:r>
              <a:t>•  Володимир (Vov4ik) — Тест-аналітик (ТА)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СПРИНТ 1: ПРОДУКТ І ВИМОГИ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Продукт «ЕдуПортал» та організація команди EduGuard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75504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809744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🎯 ПРОФІЛЬ ПРОДУКТУ ТА ПРАВИЛА ВЗАЄМОДІЇ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Продукт: LMS «ЕдуПортал» (система дистанційного навчання для ЗВО).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Цільові ролі: Студент, Викладач, Менеджер курсів, Системний адміністратор.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Демо-середовище: Розгорнуто 4 рольові акаунти (admin, manager, teacher, student).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Командні стендапи: Щоденно до 11:00 в асинхронному форматі в робочому чаті.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Peer Review: 100% артефактів проходять взаємне рецензування перед злиттям.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Definition of Done: BPMN валідовано у bpmn.io, повна трасованість вимог EXP ↔ 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1463040"/>
            <a:ext cx="5175504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645920"/>
            <a:ext cx="4809744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7706"/>
                </a:solidFill>
              </a:defRPr>
            </a:pPr>
            <a:r>
              <a:t>🔄 МАТРИЦЯ РОТАЦІЇ РОЛЕЙ НА СЕМЕСТР (§5.2)</a:t>
            </a:r>
          </a:p>
          <a:p>
            <a:pPr>
              <a:spcBef>
                <a:spcPts val="400"/>
              </a:spcBef>
              <a:defRPr sz="1050">
                <a:solidFill>
                  <a:srgbClr val="64748B"/>
                </a:solidFill>
              </a:defRPr>
            </a:pPr>
            <a:r>
              <a:t>Кожен учасник змінює інженерну роль у кожному новому спринті: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📌 Спринт 1 (Вимоги):</a:t>
            </a:r>
            <a:br/>
            <a:r>
              <a:t>   Denchik (КТ+СМ) → 5ani0chek (ІТ) → Vov4ik (ТА)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📌 Спринт 2 (Стратегія):</a:t>
            </a:r>
            <a:br/>
            <a:r>
              <a:t>   5ani0chek (КТ+СМ) → Vov4ik (ІТ) → Denchik (ТА)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📌 Спринт 3 (Тест-кейси):</a:t>
            </a:r>
            <a:br/>
            <a:r>
              <a:t>   Vov4ik (КТ+СМ) → Denchik (ІТ) → 5ani0chek (ТА)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📌 Спринт 4 (Автоматизація):</a:t>
            </a:r>
            <a:br/>
            <a:r>
              <a:t>   Denchik (КТ+СМ) → 5ani0chek (ІТ) → Vov4ik (ТА)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📌 Спринт 5 (Підсумки):</a:t>
            </a:r>
            <a:br/>
            <a:r>
              <a:t>   5ani0chek (КТ+СМ) → Vov4ik (ІТ) → Denchik (ТА)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СПРИНТ 1: ПРОДУКТ І ВИМОГИ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Наскрізні бізнес-процеси платформи «ЕдуПортал»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75504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1600200"/>
            <a:ext cx="73152" cy="20116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00200"/>
            <a:ext cx="471830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Процес 1. Авторизація та зарахування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</a:defRPr>
            </a:pPr>
            <a:r>
              <a:t>• Ролі: Студент, LMS, Менеджер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</a:defRPr>
            </a:pPr>
            <a:r>
              <a:t>• Вхід за логіном/паролем або SSO, валідація ролей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</a:defRPr>
            </a:pPr>
            <a:r>
              <a:t>• Самозарахування за кодовим словом курсу або пряме зарахування менеджером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</a:defRPr>
            </a:pPr>
            <a:r>
              <a:t>• Логіка: XOR-шлюз перевірки валідності ключа, блокування після 5 невдалих спроб.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2784" y="1463040"/>
            <a:ext cx="5175504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9944" y="1600200"/>
            <a:ext cx="73152" cy="201168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2824" y="1600200"/>
            <a:ext cx="471830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D9488"/>
                </a:solidFill>
              </a:defRPr>
            </a:pPr>
            <a:r>
              <a:t>Процес 2. Подання та оцінювання завдань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</a:defRPr>
            </a:pPr>
            <a:r>
              <a:t>• Ролі: Студент, Викладач, LMS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</a:defRPr>
            </a:pPr>
            <a:r>
              <a:t>• Завантаження файлів звітів (до 50 МБ, формати pdf/zip/docx)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</a:defRPr>
            </a:pPr>
            <a:r>
              <a:t>• Розрахунок дедлайнів за формулою стелі: ⌈(Tact - Tdead)/86400⌉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</a:defRPr>
            </a:pPr>
            <a:r>
              <a:t>• Оцінювання викладачем, надання зворотного зв'язку, цикл доопрацювання.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23360"/>
            <a:ext cx="5175504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4160520"/>
            <a:ext cx="73152" cy="201168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160520"/>
            <a:ext cx="471830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7706"/>
                </a:solidFill>
              </a:defRPr>
            </a:pPr>
            <a:r>
              <a:t>Процес 3. Проходження тесту (BPMN Модель 1)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</a:defRPr>
            </a:pPr>
            <a:r>
              <a:t>• Ролі: Студент, Сервіси LMS (2 окремі пули, 5 Message Flows)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</a:defRPr>
            </a:pPr>
            <a:r>
              <a:t>• Шлюз за подіями (контроль часу таймером або кнопка «Завершити»)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</a:defRPr>
            </a:pPr>
            <a:r>
              <a:t>• Автоматичний розрахунок балів модулем QuizScorer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</a:defRPr>
            </a:pPr>
            <a:r>
              <a:t>• Повна Diagram Interchange специфікація у 01_testing.bpmn.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2784" y="4023360"/>
            <a:ext cx="5175504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9944" y="4160520"/>
            <a:ext cx="73152" cy="2011680"/>
          </a:xfrm>
          <a:prstGeom prst="round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92824" y="4160520"/>
            <a:ext cx="471830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333EA"/>
                </a:solidFill>
              </a:defRPr>
            </a:pPr>
            <a:r>
              <a:t>Процес 4. Створення курсу (BPMN Модель 2)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</a:defRPr>
            </a:pPr>
            <a:r>
              <a:t>• Ролі: Менеджер, Викладач, LMS (1 пул, 3 доріжки)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</a:defRPr>
            </a:pPr>
            <a:r>
              <a:t>• Паралельне наповнення 4 компонентів (AND Fork / Join)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</a:defRPr>
            </a:pPr>
            <a:r>
              <a:t>• Синхронізуючий XOR Merge перед AND Fork (усунення дедлоку!)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</a:defRPr>
            </a:pPr>
            <a:r>
              <a:t>• Аудит курсу менеджером перед офіційною публікацією в каталозі.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СПРИНТ 1: ПРОДУКТ І ВИМОГИ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BPMN 2.0: Модель процесу №3 «Проходження тесту» (01_testing.bpmn)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621792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5852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📊 АРХІТЕКТУРА ТА СЕМАНТИКА МОДЕЛІ</a:t>
            </a:r>
          </a:p>
          <a:p>
            <a:pPr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• Пули та взаємодія: 2 окремі пули («Студент» та «Система LMS») з 5 міжпульними потоками повідомлень (Message Flows).</a:t>
            </a:r>
          </a:p>
          <a:p>
            <a:pPr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• Шлюз за даними (XOR Data): Перевірка «Спроби доступні?» на стороні LMS. За відсутності спроб генерується відмова та блокування доступу.</a:t>
            </a:r>
          </a:p>
          <a:p>
            <a:pPr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• Розгорнутий підпроцес: «Підпроцес опрацювання питань тесту» — містить власні початкову та кінцеву події, вибір і збереження відповідей.</a:t>
            </a:r>
          </a:p>
          <a:p>
            <a:pPr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• Шлюз за подіями (Event-Based): Контролює 2 взаємовиключні події: ручне натискання кнопки або спливання системного таймера.</a:t>
            </a:r>
          </a:p>
          <a:p>
            <a:pPr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• Артефакти даних: Об'єкт даних «Бланк відповідей на тест» та текстова анотація з алгоритмом QuizScorer.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1463040"/>
            <a:ext cx="42062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1645920"/>
            <a:ext cx="3840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✅ ПЕРЕВІРКА ЗА СТАНДАРТОМ BPMN 2.0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✓ XML валідація: 100% сумісність з demo.bpmn.io (bpmn-js v12.0.0).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✓ Diagram Interchange: Всі вузли мають BPMNShape, а потоки — координати di:waypoint.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✓ Шлюзи за подіями: Після Event Gateway розташовані виключно Intermediate Catch Events (Message/Timer).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✓ Потоки повідомлень: З'єднують тільки межі різних пулів, не перетинаючи внутрішні межі задач безпосередньо.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✓ Перехресне рев'ю: Успішно перевірено Тест-аналітиком (Vov4ik) за 10 пунктами чек-листа.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СПРИНТ 1: ПРОДУКТ І ВИМОГИ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BPMN 2.0: Модель процесу №4 «Створення курсу» (02_course_creation.bpmn)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621792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5852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97706"/>
                </a:solidFill>
              </a:defRPr>
            </a:pPr>
            <a:r>
              <a:t>⚡ ІНЖЕНЕРНІ ОСОБЛИВОСТІ ТА УСУНЕННЯ ДЕДЛОКІВ</a:t>
            </a:r>
          </a:p>
          <a:p>
            <a:pPr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• Структура процесу: Єдиний пул «Система ЕдуПортал» із 3 функціональними доріжками (Менеджер курсів, Викладач, Система LMS).</a:t>
            </a:r>
          </a:p>
          <a:p>
            <a:pPr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• Усунення дедлоку (Deadlock-Free): Петля повернення на доопрацювання після аудиту заходить у вхідний XOR Merge перед AND Fork. Це гарантує відсутність зависання паралельних токенів!</a:t>
            </a:r>
          </a:p>
          <a:p>
            <a:pPr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• Паралельне наповнення (AND Fork &amp; Join): Одночасне завантаження 4 компонентів курсу: лекції, завдання, тести та налаштування форуму.</a:t>
            </a:r>
          </a:p>
          <a:p>
            <a:pPr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• Аудит якості контенту: Менеджер курсів перевіряє відповідність стандартам до моменту публікації.</a:t>
            </a:r>
          </a:p>
          <a:p>
            <a:pPr>
              <a:spcBef>
                <a:spcPts val="700"/>
              </a:spcBef>
              <a:defRPr sz="1100">
                <a:solidFill>
                  <a:srgbClr val="1E293B"/>
                </a:solidFill>
              </a:defRPr>
            </a:pPr>
            <a:r>
              <a:t>• Публікація: Тільки після успішного проходження аудиту система LMS відкриває курс у загальному каталозі.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1463040"/>
            <a:ext cx="42062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1645920"/>
            <a:ext cx="3840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📐 СПЕЦИФІКАЦІЯ ЕЛЕМЕНТІВ МОДЕЛІ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🔹 1 Пул: Participant_EduPortal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🔹 3 Доріжки (Lanes): Lane_Manager, Lane_Teacher, Lane_LMS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🔹 3 Типи шлюзів: Exclusive XOR Merge, Parallel AND Fork, Parallel AND Join, Exclusive XOR Audit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🔹 4 Паралельні задачі: Лекції, Завдання, Тести, Форум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🔹 1 Артефакт даних: «Матеріали курсу» з асоціацією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🔹 1 Текстова анотація: Стандарт дисципліни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🔹 100% Трасованість: Всі ID збігаються з таблицею специфікації у product.md.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СПРИНТ 1: ПРОДУКТ І ВИМОГИ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Вимоги замовника та беклог продукту (12 User Stories)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75504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809744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📋 СТРУКТУРА ТА СТАНДАРТИ ВИМОГ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Людські ролі користувачів:</a:t>
            </a:r>
            <a:br/>
            <a:r>
              <a:t>  Всі 12 User Stories сформульовано виключно від реальних людей: Студент, Викладач, Менеджер курсів, Системний адміністратор (жодних «Як система...»).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Єдина формула штрафу за дедлайн:</a:t>
            </a:r>
            <a:br/>
            <a:r>
              <a:t>  Узгоджено точний математичний алгоритм округлення вгору для US-05 та US-06:</a:t>
            </a:r>
            <a:br/>
            <a:r>
              <a:t>Штраф = ⌈(T_actual - T_deadline) / 86400⌉ × PenaltyPerDay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Критерії прийняття (Acceptance Criteria):</a:t>
            </a:r>
            <a:br/>
            <a:r>
              <a:t>  Кожна історія містить 3–5 перевірюваних критеріїв за шаблоном Given-When-Then, включаючи негативні та граничні сценарії.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Двостороння матриця трасованості:</a:t>
            </a:r>
            <a:br/>
            <a:r>
              <a:t>  100% покриття бізнес-вимог EXP-01..EXP-06 користувацькими історіями US-01..US-12.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1463040"/>
            <a:ext cx="5175504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645920"/>
            <a:ext cx="4809744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D9488"/>
                </a:solidFill>
              </a:defRPr>
            </a:pPr>
            <a:r>
              <a:t>🎯 РОЗПОДІЛ 12 USER STORIES ЗА РОЛЯМИ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🔹 Студент (US-01..US-04):</a:t>
            </a:r>
            <a:br/>
            <a:r>
              <a:t>   Авторизація, запис на курс за кодовим словом, проходження тесту з таймером, здача практичної роботи.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🔹 Викладач (US-05..US-08):</a:t>
            </a:r>
            <a:br/>
            <a:r>
              <a:t>   Створення тесту та банку питань, гнучке налаштування дедлайнів і штрафів, перевірка робіт та виставлення ECTS.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🔹 Менеджер курсів (US-09..US-10):</a:t>
            </a:r>
            <a:br/>
            <a:r>
              <a:t>   Створення структури курсу, призначення викладачів, аудит наповнення перед публікацією.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🔹 Адміністратор (US-11..US-12):</a:t>
            </a:r>
            <a:br/>
            <a:r>
              <a:t>   Керування обліковими записами, конфігурація глобальних параметрів безпеки та лімітів сесій.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СПРИНТ 1: ПРОДУКТ І ВИМОГИ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Оцінка працевитрат та тайм-трекінг Спринта 1 (tasks.md)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328416" cy="13716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3145536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ЗАПЛАНОВАНО</a:t>
            </a:r>
          </a:p>
          <a:p>
            <a:pPr>
              <a:defRPr sz="2400" b="1">
                <a:solidFill>
                  <a:srgbClr val="2563EB"/>
                </a:solidFill>
              </a:defRPr>
            </a:pPr>
            <a:r>
              <a:t>24.5 год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463040"/>
            <a:ext cx="3328416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1600200"/>
            <a:ext cx="3145536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ФАКТИЧНО ВИТРАЧЕНО</a:t>
            </a:r>
          </a:p>
          <a:p>
            <a:pPr>
              <a:defRPr sz="2400" b="1">
                <a:solidFill>
                  <a:srgbClr val="D97706"/>
                </a:solidFill>
              </a:defRPr>
            </a:pPr>
            <a:r>
              <a:t>31.1 год (+26.9%)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463040"/>
            <a:ext cx="3328416" cy="137160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2" y="1600200"/>
            <a:ext cx="3145536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НОРМАТИВ НА 3 ОСІБ</a:t>
            </a:r>
          </a:p>
          <a:p>
            <a:pPr>
              <a:defRPr sz="2000" b="1">
                <a:solidFill>
                  <a:srgbClr val="10B981"/>
                </a:solidFill>
              </a:defRPr>
            </a:pPr>
            <a:r>
              <a:t>10.4 год / особу (Норма)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17520"/>
            <a:ext cx="10728655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200400"/>
            <a:ext cx="103628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293B"/>
                </a:solidFill>
              </a:defRPr>
            </a:pPr>
            <a:r>
              <a:t>👥 РОЗПОДІЛ ЧАСУ ЗА УЧАСНИКАМИ ТА ПРИЧИНИ ВІДХИЛЕНЬ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5ani0chek (Інженер з тестування): План 8.5 год → Факт 11.8 год (+3.3 год). Додатковий час пішов на точне прокладання зв'язків `di:waypoint` у BPMN XML для bpmn.io та усунення ризику дедлоку.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Vov4ik (Тест-аналітик): План 8.0 год → Факт 10.1 год (+2.1 год). Додатковий час знадобився для переписування User Stories від людських ролей та узгодження математичних формул дедлайнів.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Denchik (КТ + Скрам-майстер): План 8.0 год → Факт 9.2 год (+1.2 год). Час було витрачено на координацію структури `docs/`, зведення тайм-логу та модерацію ретроспективи.</a:t>
            </a:r>
          </a:p>
          <a:p>
            <a:pPr>
              <a:spcBef>
                <a:spcPts val="600"/>
              </a:spcBef>
              <a:defRPr sz="1100">
                <a:solidFill>
                  <a:srgbClr val="1E293B"/>
                </a:solidFill>
              </a:defRPr>
            </a:pPr>
            <a:r>
              <a:t>• Щоденний лог робіт: Вівся щодня з 16.09 по 25.09.2026. Кожна задача має чіткий статус Done та перехресне підтвердження.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СПРИНТ 1: ПРОДУКТ І ВИМОГИ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Ретроспектива Спринта 1: аналіз та рішення на майбутнє (retro.md)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328416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2962656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🟢 START (Почати робити)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Затверджувати архітектуру та структуру тек docs/ у перший день спринту.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Проводити асинхронні стендапи щодня в робочому чаті до 11:00.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Завчасно розподіляти тези та черговість виступів перед публічним Демо.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463040"/>
            <a:ext cx="3328416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1645920"/>
            <a:ext cx="2962656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11D48"/>
                </a:solidFill>
              </a:defRPr>
            </a:pPr>
            <a:r>
              <a:t>🔴 STOP (Припинити робити)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Залишати перехресне рецензування артефактів на останній день перед здачею.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Формально ставитися до перевірки BPMN — тестувати XML у живих редакторах.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Робити неперевірені коміти в репозиторій без узгодження з командою.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463040"/>
            <a:ext cx="3328416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1645920"/>
            <a:ext cx="2962656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🔵 ВПРОВАДЖЕННЯ РІШЕНЬ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Проводити взаємне рецензування мінімум за 2 дні до дедлайну (відп. Vov4ik).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Обов'язково валідувати схеми у bpmn.io до здачі (відп. 5ani0chek).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Щоденно актуалізувати tasks.md та закладати +20% буферного часу (відп. Denchik).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914400"/>
            <a:ext cx="94484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</a:defRPr>
            </a:pPr>
            <a:r>
              <a:t>ПІДСУМКИ СПРИНТА 1</a:t>
            </a:r>
          </a:p>
          <a:p>
            <a:pPr>
              <a:spcBef>
                <a:spcPts val="1000"/>
              </a:spcBef>
              <a:spcAft>
                <a:spcPts val="2000"/>
              </a:spcAft>
              <a:defRPr sz="3000" b="1">
                <a:solidFill>
                  <a:srgbClr val="FFFFFF"/>
                </a:solidFill>
              </a:defRPr>
            </a:pPr>
            <a:r>
              <a:t>Команда EduGuard успішно виконала Спринт 1!</a:t>
            </a:r>
          </a:p>
          <a:p>
            <a:pPr>
              <a:spcBef>
                <a:spcPts val="600"/>
              </a:spcBef>
              <a:defRPr sz="1300">
                <a:solidFill>
                  <a:srgbClr val="E2E8F0"/>
                </a:solidFill>
              </a:defRPr>
            </a:pPr>
            <a:r>
              <a:t>✓  100% відповідність чек-листу Спринта 1: 11 нормативних файлів у структурі docs/.</a:t>
            </a:r>
          </a:p>
          <a:p>
            <a:pPr>
              <a:spcBef>
                <a:spcPts val="600"/>
              </a:spcBef>
              <a:defRPr sz="1300">
                <a:solidFill>
                  <a:srgbClr val="E2E8F0"/>
                </a:solidFill>
              </a:defRPr>
            </a:pPr>
            <a:r>
              <a:t>✓  2 валідні інженерні моделі BPMN 2.0 (XML + SVG) з усунутими дедлоками та повними Diagram Interchange координатами.</a:t>
            </a:r>
          </a:p>
          <a:p>
            <a:pPr>
              <a:spcBef>
                <a:spcPts val="600"/>
              </a:spcBef>
              <a:defRPr sz="1300">
                <a:solidFill>
                  <a:srgbClr val="E2E8F0"/>
                </a:solidFill>
              </a:defRPr>
            </a:pPr>
            <a:r>
              <a:t>✓  12 вичерпних User Stories від людських ролей із двосторонньою матрицею трасованості.</a:t>
            </a:r>
          </a:p>
          <a:p>
            <a:pPr>
              <a:spcBef>
                <a:spcPts val="600"/>
              </a:spcBef>
              <a:defRPr sz="1300">
                <a:solidFill>
                  <a:srgbClr val="E2E8F0"/>
                </a:solidFill>
              </a:defRPr>
            </a:pPr>
            <a:r>
              <a:t>✓  Чесний щоденний тайм-трекінг (31.1 год) та детальний протокол ретроспективи.</a:t>
            </a:r>
          </a:p>
          <a:p>
            <a:pPr>
              <a:spcBef>
                <a:spcPts val="600"/>
              </a:spcBef>
              <a:defRPr sz="1300">
                <a:solidFill>
                  <a:srgbClr val="E2E8F0"/>
                </a:solidFill>
              </a:defRPr>
            </a:pPr>
            <a:r>
              <a:t>✓  Репозиторій проєкту: github.com/Sasha26062007/EDUPORTAL</a:t>
            </a:r>
          </a:p>
          <a:p>
            <a:pPr>
              <a:spcBef>
                <a:spcPts val="2400"/>
              </a:spcBef>
              <a:defRPr sz="1800" b="1">
                <a:solidFill>
                  <a:srgbClr val="34D399"/>
                </a:solidFill>
              </a:defRPr>
            </a:pPr>
            <a:r>
              <a:t>Дякуємо за увагу! Готові відповісти на ваші запитання.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