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ТАЙМІНГ: 0:00 - 1:00 (1 хв)</a:t>
            </a:r>
          </a:p>
          <a:p>
            <a:r>
              <a:t>ТЕЗИ ДЛЯ ВИСТУПУ:</a:t>
            </a:r>
          </a:p>
          <a:p>
            <a:r>
              <a:t>1. Вітання комісії/викладачу. Представлення команди EduGuard та продукту №6 «ЕдуПортал» (система дистанційного навчання).</a:t>
            </a:r>
          </a:p>
          <a:p>
            <a:r>
              <a:t>2. Мета Спринта 1: закласти якісну інженерну основу — сформувати профіль продукту, змоделювати бізнес-процеси за стандартом BPMN 2.0, формалізувати User Stories із критеріями прийняття та налаштувати командний процес.</a:t>
            </a:r>
          </a:p>
          <a:p>
            <a:r>
              <a:t>3. Розподіл ролей: Денис — Керівник тестування і Скрам-майстер, Олександр — Інженер з тестування, Володимир — Тест-аналітик.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ТАЙМІНГ: 1:00 - 2:00 (1 хв)</a:t>
            </a:r>
          </a:p>
          <a:p>
            <a:r>
              <a:t>ТЕЗИ ДЛЯ ВИСТУПУ:</a:t>
            </a:r>
          </a:p>
          <a:p>
            <a:r>
              <a:t>1. «ЕдуПортал» — це повнофункціональна навчальна платформа. Основний фокус нашої команди тестування — надійність алгоритмів оцінювання, стабільність роботи під час пікових навантажень тестування та зручність взаємодії викладача і студента.</a:t>
            </a:r>
          </a:p>
          <a:p>
            <a:r>
              <a:t>2. У Статуті команди ми зафіксували прозорі правила: щоденна комунікація, крос-рев'ю кожного документу і суворе дотримання Definition of Done.</a:t>
            </a:r>
          </a:p>
          <a:p>
            <a:r>
              <a:t>3. Матриця ротації забезпечує, що кожен член команди спробує себе у всіх інженерних ролях протягом 5 спринтів.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ТАЙМІНГ: 2:00 - 3:00 (1 хв)</a:t>
            </a:r>
          </a:p>
          <a:p>
            <a:r>
              <a:t>ТЕЗИ ДЛЯ ВИСТУПУ:</a:t>
            </a:r>
          </a:p>
          <a:p>
            <a:r>
              <a:t>1. Для системи «ЕдуПортал» ми виділили 4 ключові бізнес-процеси, які покривають 100% життєвого циклу користувача.</a:t>
            </a:r>
          </a:p>
          <a:p>
            <a:r>
              <a:t>2. Перші два процеси (Авторизація та Подання завдань) детально описані в специфікації product.md.</a:t>
            </a:r>
          </a:p>
          <a:p>
            <a:r>
              <a:t>3. Два найбільш критичні інженерні процеси — «Проходження тестування» та «Створення курсу» — були повністю формалізовані та змодельовані за міжнародним стандартом BPMN 2.0.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ТАЙМІНГ: 3:00 - 4:30 (1.5 хв)</a:t>
            </a:r>
          </a:p>
          <a:p>
            <a:r>
              <a:t>ТЕЗИ ДЛЯ ВИСТУПУ:</a:t>
            </a:r>
          </a:p>
          <a:p>
            <a:r>
              <a:t>1. У моделі тестування 01_testing.bpmn ми суворо дотрималися нотації BPMN 2.0. Тут реалізовано взаємодію двох автономних учасників: користувача-студента та бекенду LMS.</a:t>
            </a:r>
          </a:p>
          <a:p>
            <a:r>
              <a:t>2. Зверніть увагу на розгорнутий підпроцес опрацювання питань, який інкапсулює циклічну роботу студента.</a:t>
            </a:r>
          </a:p>
          <a:p>
            <a:r>
              <a:t>3. Важливий інженерний аспект: використання Event-Based Gateway. Тест завершується або за таймером, або за ручною відправкою — обидві події коректно перехоплюються через Intermediate Catch Events.</a:t>
            </a:r>
          </a:p>
          <a:p>
            <a:r>
              <a:t>4. Файл повністю перевірено в онлайн-інструменті bpmn.io, жодних синтаксичних чи графічних помилок немає.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ТАЙМІНГ: 4:30 - 6:00 (1.5 хв)</a:t>
            </a:r>
          </a:p>
          <a:p>
            <a:r>
              <a:t>ТЕЗИ ДЛЯ ВИСТУПУ:</a:t>
            </a:r>
          </a:p>
          <a:p>
            <a:r>
              <a:t>1. У моделі 02_course_creation.bpmn ми вирішили складну інженерну проблему — коректну обробку циклів повернення на доопрацювання при наявності паралельних гілок.</a:t>
            </a:r>
          </a:p>
          <a:p>
            <a:r>
              <a:t>2. Якщо повернути потік безпосередньо в паралельний шлюз AND, виникає дедлок або генерація зайвих токенів. Ми вирішили це за класичним патерном: поставили синхронізуючий XOR Merge перед AND Fork.</a:t>
            </a:r>
          </a:p>
          <a:p>
            <a:r>
              <a:t>3. Модель демонструє повний цикл від отримання заявки до публікації в каталозі LMS.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ТАЙМІНГ: 6:00 - 7:15 (1.15 хв)</a:t>
            </a:r>
          </a:p>
          <a:p>
            <a:r>
              <a:t>ТЕЗИ ДЛЯ ВИСТУПУ:</a:t>
            </a:r>
          </a:p>
          <a:p>
            <a:r>
              <a:t>1. На основі вимог замовника EXP-01..EXP-06 ми розробили деталізований беклог із 12 User Stories.</a:t>
            </a:r>
          </a:p>
          <a:p>
            <a:r>
              <a:t>2. Усі історії написані за стандартом Connextra від імені реальних користувачів: студента, викладача, менеджера та адміна.</a:t>
            </a:r>
          </a:p>
          <a:p>
            <a:r>
              <a:t>3. Особливу увагу ми приділили усуненню неоднозначностей. Наприклад, правило нарахування штрафів за прострочені дедлайни формалізовано через математичну функцію стелі, що виключає різночитання при розробці та тестуванні.</a:t>
            </a:r>
          </a:p>
          <a:p>
            <a:r>
              <a:t>4. Матриця трасованості підтверджує 100% покриття всіх очікувань замовника.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ТАЙМІНГ: 7:15 - 8:15 (1 хв)</a:t>
            </a:r>
          </a:p>
          <a:p>
            <a:r>
              <a:t>ТЕЗИ ДЛЯ ВИСТУПУ:</a:t>
            </a:r>
          </a:p>
          <a:p>
            <a:r>
              <a:t>1. Ми вели чесний та прозорий облік часу в tasks.md. Сумарні витрати склали 31.1 людино-годину при плані 24.5 год.</a:t>
            </a:r>
          </a:p>
          <a:p>
            <a:r>
              <a:t>2. У середньому на кожного учасника припало 10.4 години, що ідеально вкладається в академічний норматив (8–12 год).</a:t>
            </a:r>
          </a:p>
          <a:p>
            <a:r>
              <a:t>3. Перевитрата часу була спричинена виключно інженерними завданнями: ручним доопрацюванням BPMN XML для повної сумісності з bpmn.io та деталізацією критеріїв прийняття User Stories.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ТАЙМІНГ: 8:15 - 9:15 (1 хв)</a:t>
            </a:r>
          </a:p>
          <a:p>
            <a:r>
              <a:t>ТЕЗИ ДЛЯ ВИСТУПУ:</a:t>
            </a:r>
          </a:p>
          <a:p>
            <a:r>
              <a:t>1. Ретроспектива допомогла виявити як наші сильні сторони, так і зони росту.</a:t>
            </a:r>
          </a:p>
          <a:p>
            <a:r>
              <a:t>2. У форматі Start/Stop/Continue ми вирішили проводити перехресне рецензування мінімум за 2 дні до дедлайну, щоб уникати авралів перед здачею.</a:t>
            </a:r>
          </a:p>
          <a:p>
            <a:r>
              <a:t>3. На Спринт 2 (Тест-дизайн) ми входимо з чітким планом покращення процесів.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ТАЙМІНГ: 9:15 - 10:00 (45 сек)</a:t>
            </a:r>
          </a:p>
          <a:p>
            <a:r>
              <a:t>ТЕЗИ ДЛЯ ВИСТУПУ:</a:t>
            </a:r>
          </a:p>
          <a:p>
            <a:r>
              <a:t>1. Підсумок: усі вимоги Спринта 1 виконано в повному обсязі, артефакти зафіксовані в Git.</a:t>
            </a:r>
          </a:p>
          <a:p>
            <a:r>
              <a:t>2. Команда повністю готова до переходу на Спринт 2 (Тест-дизайн та розробка тест-плану).</a:t>
            </a:r>
          </a:p>
          <a:p>
            <a:r>
              <a:t>3. Дякуємо за увагу, готові до запитань комісії!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137160" cy="41148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0A5FA"/>
                </a:solidFill>
              </a:defRPr>
            </a:pPr>
            <a:r>
              <a:t>КУРС «ТЕХНОЛОГІЇ ЗАБЕЗПЕЧЕННЯ ЯКОСТІ ПРОГРАМНИХ ЗАСОБІВ»</a:t>
            </a:r>
          </a:p>
          <a:p>
            <a:pPr>
              <a:spcBef>
                <a:spcPts val="1400"/>
              </a:spcBef>
              <a:spcAft>
                <a:spcPts val="1400"/>
              </a:spcAft>
              <a:defRPr sz="3200" b="1">
                <a:solidFill>
                  <a:srgbClr val="FFFFFF"/>
                </a:solidFill>
              </a:defRPr>
            </a:pPr>
            <a:r>
              <a:t>Звіт за результатами Спринта 1:</a:t>
            </a:r>
            <a:br/>
            <a:r>
              <a:t>«Продукт і вимоги»</a:t>
            </a:r>
          </a:p>
          <a:p>
            <a:pPr>
              <a:spcAft>
                <a:spcPts val="2800"/>
              </a:spcAft>
              <a:defRPr sz="1800">
                <a:solidFill>
                  <a:srgbClr val="CBD5E1"/>
                </a:solidFill>
              </a:defRPr>
            </a:pPr>
            <a:r>
              <a:t>Продукт: «ЕдуПортал» (LMS, Продукт №6) | Команда: EduGuard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297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94A3B8"/>
                </a:solidFill>
              </a:defRPr>
            </a:pPr>
            <a:r>
              <a:t>СКЛАД КОМАНДИ ТА РОЛІ В СПРИНТІ 1:</a:t>
            </a:r>
          </a:p>
          <a:p>
            <a:pPr>
              <a:spcAft>
                <a:spcPts val="300"/>
              </a:spcAft>
              <a:defRPr sz="1300">
                <a:solidFill>
                  <a:srgbClr val="F1F5F9"/>
                </a:solidFill>
              </a:defRPr>
            </a:pPr>
            <a:r>
              <a:t>•  Денис Бучинський (Denchik) — Керівник тестування (КТ) + Скрам-майстер (СМ)</a:t>
            </a:r>
          </a:p>
          <a:p>
            <a:pPr>
              <a:spcAft>
                <a:spcPts val="300"/>
              </a:spcAft>
              <a:defRPr sz="1300">
                <a:solidFill>
                  <a:srgbClr val="F1F5F9"/>
                </a:solidFill>
              </a:defRPr>
            </a:pPr>
            <a:r>
              <a:t>•  Олександр (5ani0chek) — Інженер з тестування (ІТ)</a:t>
            </a:r>
          </a:p>
          <a:p>
            <a:pPr>
              <a:spcAft>
                <a:spcPts val="300"/>
              </a:spcAft>
              <a:defRPr sz="1300">
                <a:solidFill>
                  <a:srgbClr val="F1F5F9"/>
                </a:solidFill>
              </a:defRPr>
            </a:pPr>
            <a:r>
              <a:t>•  Володимир (Vov4ik) — Тест-аналітик (ТА)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СПРИНТ 1: ПРОДУКТ І ВИМОГИ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Продукт «ЕдуПортал» та організація команди EduGuard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328416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296265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🎯 ПРОФІЛЬ ПРОДУКТУ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Тип системи: LMS (Learning Management System) для ЗВО та корпоративного навчання.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Цільова аудиторія: Студенти, викладачі, менеджери курсів, системні адміністратори.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Ключова цінність: Автоматизація контролю знань (QuizScorer), інтерактивна здача робіт, прозорий облік дедлайнів.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Стек технологій: PostgreSQL, Backend API, Web/Mobile SPA.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Демо-середовище: Розгорнуто 4 рольові тестові акаунти (admin, manager, teacher, student).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463040"/>
            <a:ext cx="3328416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08576" y="1645920"/>
            <a:ext cx="296265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</a:defRPr>
            </a:pPr>
            <a:r>
              <a:t>🤝 КОМАНДНИЙ СТАТУТ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Правила взаємодії: Щоденні асинхронні стендапи до 11:00 у Telegram, спільний репозиторій на GitHub.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Контроль коду й доків: Обов'язкове перехресне рецензування (Peer Review) перед злиттям у main.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Нормативне навантаження: Розподіл 8–12 год на особу за спринт.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Definition of Done: Артефакт прийнятий рецензентом, BPMN валідовано у bpmn.io, 100% трасованість вимог.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463040"/>
            <a:ext cx="3328416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02752" y="1645920"/>
            <a:ext cx="296265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97706"/>
                </a:solidFill>
              </a:defRPr>
            </a:pPr>
            <a:r>
              <a:t>🔄 МАТРИЦЯ РОТАЦІЇ РОЛЕЙ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Спринт 1 (Вимоги):</a:t>
            </a:r>
            <a:br/>
            <a:r>
              <a:t>Denchik (КТ+СМ) | 5ani0chek (ІТ) | Vov4ik (ТА)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Спринт 2 (Тест-дизайн):</a:t>
            </a:r>
            <a:br/>
            <a:r>
              <a:t>5ani0chek (КТ+СМ) | Vov4ik (ІТ) | Denchik (ТА)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Спринт 3 (Виконання):</a:t>
            </a:r>
            <a:br/>
            <a:r>
              <a:t>Vov4ik (КТ+СМ) | Denchik (ІТ) | 5ani0chek (ТА)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Спринт 4 (Автоматизація):</a:t>
            </a:r>
            <a:br/>
            <a:r>
              <a:t>Denchik (КТ+СМ) | 5ani0chek (ІТ) | Vov4ik (ТА)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Спринт 5 (Підсумки):</a:t>
            </a:r>
            <a:br/>
            <a:r>
              <a:t>5ani0chek (КТ+СМ) | Vov4ik (ІТ) | Denchik (ТА)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СПРИНТ 1: ПРОДУКТ І ВИМОГИ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Наскрізні бізнес-процеси платформи «ЕдуПортал»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75504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1600200"/>
            <a:ext cx="73152" cy="20116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600200"/>
            <a:ext cx="4718304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Процес 1. Авторизація та зарахування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</a:defRPr>
            </a:pPr>
            <a:r>
              <a:t>• Ролі: Студент, LMS, Менеджер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</a:defRPr>
            </a:pPr>
            <a:r>
              <a:t>• Вхід за логіном/паролем або SSO, валідація ролей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</a:defRPr>
            </a:pPr>
            <a:r>
              <a:t>• Самозарахування за кодовим словом курсу або пряме зарахування менеджером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</a:defRPr>
            </a:pPr>
            <a:r>
              <a:t>• Логіка: XOR-шлюз перевірки валідності ключа, блокування після 5 невдалих спроб.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2784" y="1463040"/>
            <a:ext cx="5175504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9944" y="1600200"/>
            <a:ext cx="73152" cy="201168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92824" y="1600200"/>
            <a:ext cx="4718304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D9488"/>
                </a:solidFill>
              </a:defRPr>
            </a:pPr>
            <a:r>
              <a:t>Процес 2. Подання та оцінювання завдань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</a:defRPr>
            </a:pPr>
            <a:r>
              <a:t>• Ролі: Студент, Викладач, LMS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</a:defRPr>
            </a:pPr>
            <a:r>
              <a:t>• Завантаження файлів звітів (до 50 МБ, формати pdf/zip/docx)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</a:defRPr>
            </a:pPr>
            <a:r>
              <a:t>• Розрахунок дедлайнів за формулою стелі: ⌈(Tact - Tdead)/86400⌉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</a:defRPr>
            </a:pPr>
            <a:r>
              <a:t>• Оцінювання викладачем, надання зворотного зв'язку, цикл доопрацювання.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023360"/>
            <a:ext cx="5175504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68680" y="4160520"/>
            <a:ext cx="73152" cy="201168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160520"/>
            <a:ext cx="4718304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97706"/>
                </a:solidFill>
              </a:defRPr>
            </a:pPr>
            <a:r>
              <a:t>Процес 3. Проходження тесту (BPMN Модель 1)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</a:defRPr>
            </a:pPr>
            <a:r>
              <a:t>• Ролі: Студент, Сервіси LMS (2 окремі пули, 5 Message Flows)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</a:defRPr>
            </a:pPr>
            <a:r>
              <a:t>• Шлюз за подіями (контроль часу таймером або кнопка «Завершити»)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</a:defRPr>
            </a:pPr>
            <a:r>
              <a:t>• Автоматичний розрахунок балів модулем QuizScorer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</a:defRPr>
            </a:pPr>
            <a:r>
              <a:t>• Повна Diagram Interchange специфікація у 01_testing.bpmn.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72784" y="4023360"/>
            <a:ext cx="5175504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9944" y="4160520"/>
            <a:ext cx="73152" cy="2011680"/>
          </a:xfrm>
          <a:prstGeom prst="round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92824" y="4160520"/>
            <a:ext cx="4718304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9333EA"/>
                </a:solidFill>
              </a:defRPr>
            </a:pPr>
            <a:r>
              <a:t>Процес 4. Створення курсу (BPMN Модель 2)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</a:defRPr>
            </a:pPr>
            <a:r>
              <a:t>• Ролі: Менеджер, Викладач, LMS (1 пул, 3 доріжки)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</a:defRPr>
            </a:pPr>
            <a:r>
              <a:t>• Паралельне наповнення 4 компонентів (AND Fork / Join)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</a:defRPr>
            </a:pPr>
            <a:r>
              <a:t>• Синхронізуючий XOR Merge перед AND Fork (усунення дедлоку!)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</a:defRPr>
            </a:pPr>
            <a:r>
              <a:t>• Аудит курсу менеджером перед офіційною публікацією в каталозі.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СПРИНТ 1: ПРОДУКТ І ВИМОГИ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BPMN 2.0: Модель процесу №3 «Проходження тесту» (01_testing.bpmn)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621792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5852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📊 АРХІТЕКТУРА ТА СЕМАНТИКА МОДЕЛІ</a:t>
            </a:r>
          </a:p>
          <a:p>
            <a:pPr>
              <a:spcBef>
                <a:spcPts val="700"/>
              </a:spcBef>
              <a:defRPr sz="1100">
                <a:solidFill>
                  <a:srgbClr val="1E293B"/>
                </a:solidFill>
              </a:defRPr>
            </a:pPr>
            <a:r>
              <a:t>• Пули та взаємодія: 2 окремі пули («Студент» та «Система LMS») з 5 міжпульними потоками повідомлень (Message Flows).</a:t>
            </a:r>
          </a:p>
          <a:p>
            <a:pPr>
              <a:spcBef>
                <a:spcPts val="700"/>
              </a:spcBef>
              <a:defRPr sz="1100">
                <a:solidFill>
                  <a:srgbClr val="1E293B"/>
                </a:solidFill>
              </a:defRPr>
            </a:pPr>
            <a:r>
              <a:t>• Шлюз за даними (XOR Data): Перевірка «Спроби доступні?» на стороні LMS. За відсутності спроб генерується відмова та блокування доступу.</a:t>
            </a:r>
          </a:p>
          <a:p>
            <a:pPr>
              <a:spcBef>
                <a:spcPts val="700"/>
              </a:spcBef>
              <a:defRPr sz="1100">
                <a:solidFill>
                  <a:srgbClr val="1E293B"/>
                </a:solidFill>
              </a:defRPr>
            </a:pPr>
            <a:r>
              <a:t>• Розгорнутий підпроцес: «Підпроцес опрацювання питань тесту» — містить власні початкову та кінцеву події, вибір і збереження відповідей.</a:t>
            </a:r>
          </a:p>
          <a:p>
            <a:pPr>
              <a:spcBef>
                <a:spcPts val="700"/>
              </a:spcBef>
              <a:defRPr sz="1100">
                <a:solidFill>
                  <a:srgbClr val="1E293B"/>
                </a:solidFill>
              </a:defRPr>
            </a:pPr>
            <a:r>
              <a:t>• Шлюз за подіями (Event-Based): Контролює 2 взаємовиключні події: ручне натискання кнопки або спливання системного таймера.</a:t>
            </a:r>
          </a:p>
          <a:p>
            <a:pPr>
              <a:spcBef>
                <a:spcPts val="700"/>
              </a:spcBef>
              <a:defRPr sz="1100">
                <a:solidFill>
                  <a:srgbClr val="1E293B"/>
                </a:solidFill>
              </a:defRPr>
            </a:pPr>
            <a:r>
              <a:t>• Артефакти даних: Об'єкт даних «Бланк відповідей на тест» та текстова анотація з алгоритмом QuizScorer.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1463040"/>
            <a:ext cx="42062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0" y="1645920"/>
            <a:ext cx="3840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✅ ПЕРЕВІРКА ЗА СТАНДАРТОМ BPMN 2.0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✓ XML валідація: 100% сумісність з demo.bpmn.io (bpmn-js v12.0.0).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✓ Diagram Interchange: Всі вузли мають BPMNShape, а потоки — координати di:waypoint.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✓ Шлюзи за подіями: Після Event Gateway розташовані виключно Intermediate Catch Events (Message/Timer).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✓ Потоки повідомлень: З'єднують тільки межі різних пулів, не перетинаючи внутрішні межі задач безпосередньо.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✓ Перехресне рев'ю: Успішно перевірено Тест-аналітиком (Vov4ik) за 10 пунктами чек-листа.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СПРИНТ 1: ПРОДУКТ І ВИМОГИ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BPMN 2.0: Модель процесу №4 «Створення курсу» (02_course_creation.bpmn)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621792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5852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97706"/>
                </a:solidFill>
              </a:defRPr>
            </a:pPr>
            <a:r>
              <a:t>⚡ ІНЖЕНЕРНІ ОСОБЛИВОСТІ ТА УСУНЕННЯ ДЕДЛОКІВ</a:t>
            </a:r>
          </a:p>
          <a:p>
            <a:pPr>
              <a:spcBef>
                <a:spcPts val="700"/>
              </a:spcBef>
              <a:defRPr sz="1100">
                <a:solidFill>
                  <a:srgbClr val="1E293B"/>
                </a:solidFill>
              </a:defRPr>
            </a:pPr>
            <a:r>
              <a:t>• Структура процесу: Єдиний пул «Система ЕдуПортал» із 3 функціональними доріжками (Менеджер курсів, Викладач, Система LMS).</a:t>
            </a:r>
          </a:p>
          <a:p>
            <a:pPr>
              <a:spcBef>
                <a:spcPts val="700"/>
              </a:spcBef>
              <a:defRPr sz="1100">
                <a:solidFill>
                  <a:srgbClr val="1E293B"/>
                </a:solidFill>
              </a:defRPr>
            </a:pPr>
            <a:r>
              <a:t>• Усунення дедлоку (Deadlock-Free): Петля повернення на доопрацювання після аудиту заходить у вхідний XOR Merge перед AND Fork. Це гарантує відсутність зависання паралельних токенів!</a:t>
            </a:r>
          </a:p>
          <a:p>
            <a:pPr>
              <a:spcBef>
                <a:spcPts val="700"/>
              </a:spcBef>
              <a:defRPr sz="1100">
                <a:solidFill>
                  <a:srgbClr val="1E293B"/>
                </a:solidFill>
              </a:defRPr>
            </a:pPr>
            <a:r>
              <a:t>• Паралельне наповнення (AND Fork &amp; Join): Одночасне завантаження 4 компонентів курсу: лекції, завдання, тести та налаштування форуму.</a:t>
            </a:r>
          </a:p>
          <a:p>
            <a:pPr>
              <a:spcBef>
                <a:spcPts val="700"/>
              </a:spcBef>
              <a:defRPr sz="1100">
                <a:solidFill>
                  <a:srgbClr val="1E293B"/>
                </a:solidFill>
              </a:defRPr>
            </a:pPr>
            <a:r>
              <a:t>• Аудит якості контенту: Менеджер курсів перевіряє відповідність стандартам до моменту публікації.</a:t>
            </a:r>
          </a:p>
          <a:p>
            <a:pPr>
              <a:spcBef>
                <a:spcPts val="700"/>
              </a:spcBef>
              <a:defRPr sz="1100">
                <a:solidFill>
                  <a:srgbClr val="1E293B"/>
                </a:solidFill>
              </a:defRPr>
            </a:pPr>
            <a:r>
              <a:t>• Публікація: Тільки після успішного проходження аудиту система LMS відкриває курс у загальному каталозі.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1463040"/>
            <a:ext cx="42062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0" y="1645920"/>
            <a:ext cx="3840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📐 СПЕЦИФІКАЦІЯ ЕЛЕМЕНТІВ МОДЕЛІ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🔹 1 Пул: Participant_EduPortal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🔹 3 Доріжки (Lanes): Lane_Manager, Lane_Teacher, Lane_LMS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🔹 3 Типи шлюзів: Exclusive XOR Merge, Parallel AND Fork, Parallel AND Join, Exclusive XOR Audit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🔹 4 Паралельні задачі: Лекції, Завдання, Тести, Форум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🔹 1 Артефакт даних: «Матеріали курсу» з асоціацією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🔹 1 Текстова анотація: Стандарт дисципліни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🔹 100% Трасованість: Всі ID збігаються з таблицею специфікації у product.md.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СПРИНТ 1: ПРОДУКТ І ВИМОГИ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Вимоги замовника та беклог продукту (12 User Stories)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75504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809744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📋 СТРУКТУРА ТА СТАНДАРТИ ВИМОГ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Людські ролі користувачів:</a:t>
            </a:r>
            <a:br/>
            <a:r>
              <a:t>  Всі 12 User Stories сформульовано виключно від реальних людей: Студент, Викладач, Менеджер курсів, Системний адміністратор (жодних «Як система...»).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Єдина формула штрафу за дедлайн:</a:t>
            </a:r>
            <a:br/>
            <a:r>
              <a:t>  Узгоджено точний математичний алгоритм округлення вгору для US-05 та US-06:</a:t>
            </a:r>
            <a:br/>
            <a:r>
              <a:t>Штраф = ⌈(T_actual - T_deadline) / 86400⌉ × PenaltyPerDay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Критерії прийняття (Acceptance Criteria):</a:t>
            </a:r>
            <a:br/>
            <a:r>
              <a:t>  Кожна історія містить 3–5 перевірюваних критеріїв за шаблоном Given-When-Then, включаючи негативні та граничні сценарії.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Двостороння матриця трасованості:</a:t>
            </a:r>
            <a:br/>
            <a:r>
              <a:t>  100% покриття бізнес-вимог EXP-01..EXP-06 користувацькими історіями US-01..US-12.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2784" y="1463040"/>
            <a:ext cx="5175504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55664" y="1645920"/>
            <a:ext cx="4809744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</a:defRPr>
            </a:pPr>
            <a:r>
              <a:t>🎯 РОЗПОДІЛ 12 USER STORIES ЗА РОЛЯМИ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🔹 Студент (US-01..US-04):</a:t>
            </a:r>
            <a:br/>
            <a:r>
              <a:t>   Авторизація, запис на курс за кодовим словом, проходження тесту з таймером, здача практичної роботи.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🔹 Викладач (US-05..US-08):</a:t>
            </a:r>
            <a:br/>
            <a:r>
              <a:t>   Створення тесту та банку питань, гнучке налаштування дедлайнів і штрафів, перевірка робіт та виставлення ECTS.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🔹 Менеджер курсів (US-09..US-10):</a:t>
            </a:r>
            <a:br/>
            <a:r>
              <a:t>   Створення структури курсу, призначення викладачів, аудит наповнення перед публікацією.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🔹 Адміністратор (US-11..US-12):</a:t>
            </a:r>
            <a:br/>
            <a:r>
              <a:t>   Керування обліковими записами, конфігурація глобальних параметрів безпеки та лімітів сесій.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СПРИНТ 1: ПРОДУКТ І ВИМОГИ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Оцінка працевитрат та тайм-трекінг Спринта 1 (tasks.md)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328416" cy="137160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3145536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ЗАПЛАНОВАНО</a:t>
            </a:r>
          </a:p>
          <a:p>
            <a:pPr>
              <a:defRPr sz="2400" b="1">
                <a:solidFill>
                  <a:srgbClr val="2563EB"/>
                </a:solidFill>
              </a:defRPr>
            </a:pPr>
            <a:r>
              <a:t>24.5 год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463040"/>
            <a:ext cx="3328416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17136" y="1600200"/>
            <a:ext cx="3145536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ФАКТИЧНО ВИТРАЧЕНО</a:t>
            </a:r>
          </a:p>
          <a:p>
            <a:pPr>
              <a:defRPr sz="2400" b="1">
                <a:solidFill>
                  <a:srgbClr val="D97706"/>
                </a:solidFill>
              </a:defRPr>
            </a:pPr>
            <a:r>
              <a:t>31.1 год (+26.9%)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463040"/>
            <a:ext cx="3328416" cy="137160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1312" y="1600200"/>
            <a:ext cx="3145536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НОРМАТИВ НА 3 ОСІБ</a:t>
            </a:r>
          </a:p>
          <a:p>
            <a:pPr>
              <a:defRPr sz="2000" b="1">
                <a:solidFill>
                  <a:srgbClr val="10B981"/>
                </a:solidFill>
              </a:defRPr>
            </a:pPr>
            <a:r>
              <a:t>10.4 год / особу (Норма)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017520"/>
            <a:ext cx="10728655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200400"/>
            <a:ext cx="1036289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293B"/>
                </a:solidFill>
              </a:defRPr>
            </a:pPr>
            <a:r>
              <a:t>👥 РОЗПОДІЛ ЧАСУ ЗА УЧАСНИКАМИ ТА ПРИЧИНИ ВІДХИЛЕНЬ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5ani0chek (Інженер з тестування): План 8.5 год → Факт 11.8 год (+3.3 год). Додатковий час пішов на точне прокладання зв'язків `di:waypoint` у BPMN XML для bpmn.io та усунення ризику дедлоку.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Vov4ik (Тест-аналітик): План 8.0 год → Факт 10.1 год (+2.1 год). Додатковий час знадобився для переписування User Stories від людських ролей та узгодження математичних формул дедлайнів.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Denchik (КТ + Скрам-майстер): План 8.0 год → Факт 9.2 год (+1.2 год). Час було витрачено на координацію структури `docs/`, зведення тайм-логу та модерацію ретроспективи.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Щоденний лог робіт: Вівся щодня з 16.09 по 25.09.2026. Кожна задача має чіткий статус Done та перехресне підтвердження.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СПРИНТ 1: ПРОДУКТ І ВИМОГИ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Ретроспектива Спринта 1 та рішення на Спринт 2 (retro.md)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328416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296265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🟢 START (Почати)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Затверджувати архітектуру та структуру тек docs/ у перший день спринту.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Проводити асинхронні стендапи щодня в робочому чаті до 11:00.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Завчасно розподіляти тези та черговість виступів перед публічним Демо.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463040"/>
            <a:ext cx="3328416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08576" y="1645920"/>
            <a:ext cx="296265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11D48"/>
                </a:solidFill>
              </a:defRPr>
            </a:pPr>
            <a:r>
              <a:t>🔴 STOP (Припинити)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Залишати перехресне рецензування артефактів на останній день перед здачею.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Формально ставитися до перевірки BPMN — тестувати XML у живих редакторах.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Робити неперевірені коміти в репозиторій без узгодження з командою.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463040"/>
            <a:ext cx="3328416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02752" y="1645920"/>
            <a:ext cx="296265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🔵 CONTINUE &amp; ПЛАН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Детально розписувати критерії прийняття та граничні випадки.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Підтримувати взаємодопомогу та високу інженерну точність.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Рішення на Спринт 2: проводити рев'ю за 2 дні до здачі та закладати +20% буферного часу.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914400"/>
            <a:ext cx="94484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0A5FA"/>
                </a:solidFill>
              </a:defRPr>
            </a:pPr>
            <a:r>
              <a:t>ПІДСУМКИ СПРИНТА 1</a:t>
            </a:r>
          </a:p>
          <a:p>
            <a:pPr>
              <a:spcBef>
                <a:spcPts val="1000"/>
              </a:spcBef>
              <a:spcAft>
                <a:spcPts val="2000"/>
              </a:spcAft>
              <a:defRPr sz="3000" b="1">
                <a:solidFill>
                  <a:srgbClr val="FFFFFF"/>
                </a:solidFill>
              </a:defRPr>
            </a:pPr>
            <a:r>
              <a:t>Команда EduGuard готова до Спринта 2!</a:t>
            </a:r>
          </a:p>
          <a:p>
            <a:pPr>
              <a:spcBef>
                <a:spcPts val="600"/>
              </a:spcBef>
              <a:defRPr sz="1300">
                <a:solidFill>
                  <a:srgbClr val="E2E8F0"/>
                </a:solidFill>
              </a:defRPr>
            </a:pPr>
            <a:r>
              <a:t>✓  100% відповідність чек-листу Спринта 1: 11 нормативних файлів у структурі docs/.</a:t>
            </a:r>
          </a:p>
          <a:p>
            <a:pPr>
              <a:spcBef>
                <a:spcPts val="600"/>
              </a:spcBef>
              <a:defRPr sz="1300">
                <a:solidFill>
                  <a:srgbClr val="E2E8F0"/>
                </a:solidFill>
              </a:defRPr>
            </a:pPr>
            <a:r>
              <a:t>✓  2 валідні інженерні моделі BPMN 2.0 (XML + SVG) з усунутими дедлоками та повними Diagram Interchange координатами.</a:t>
            </a:r>
          </a:p>
          <a:p>
            <a:pPr>
              <a:spcBef>
                <a:spcPts val="600"/>
              </a:spcBef>
              <a:defRPr sz="1300">
                <a:solidFill>
                  <a:srgbClr val="E2E8F0"/>
                </a:solidFill>
              </a:defRPr>
            </a:pPr>
            <a:r>
              <a:t>✓  12 вичерпних User Stories від людських ролей із двосторонньою матрицею трасованості.</a:t>
            </a:r>
          </a:p>
          <a:p>
            <a:pPr>
              <a:spcBef>
                <a:spcPts val="600"/>
              </a:spcBef>
              <a:defRPr sz="1300">
                <a:solidFill>
                  <a:srgbClr val="E2E8F0"/>
                </a:solidFill>
              </a:defRPr>
            </a:pPr>
            <a:r>
              <a:t>✓  Чесний щоденний тайм-трекінг та детальний протокол ретроспективи.</a:t>
            </a:r>
          </a:p>
          <a:p>
            <a:pPr>
              <a:spcBef>
                <a:spcPts val="600"/>
              </a:spcBef>
              <a:defRPr sz="1300">
                <a:solidFill>
                  <a:srgbClr val="E2E8F0"/>
                </a:solidFill>
              </a:defRPr>
            </a:pPr>
            <a:r>
              <a:t>✓  Репозиторій проєкту: github.com/Sasha26062007/EDUPORTAL</a:t>
            </a:r>
          </a:p>
          <a:p>
            <a:pPr>
              <a:spcBef>
                <a:spcPts val="2400"/>
              </a:spcBef>
              <a:defRPr sz="1800" b="1">
                <a:solidFill>
                  <a:srgbClr val="34D399"/>
                </a:solidFill>
              </a:defRPr>
            </a:pPr>
            <a:r>
              <a:t>Дякуємо за увагу! Готові відповісти на ваші запитання.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