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0:00 - 1:00 (1 хв)</a:t>
            </a:r>
          </a:p>
          <a:p>
            <a:r>
              <a:t>Доповідач: Олександр Панайотов (Test Lead)</a:t>
            </a:r>
          </a:p>
          <a:p>
            <a:r>
              <a:t>Тези: Вітання комісії. Команда EduGuard (Команда F) представляє звіт за Спринтом 2. Команда розширилася до 5 осіб, впроваджено повну рольову модель за стандартом. Мета: аудит специфікації SRS 1.0, виявлення дефектів за 6 критеріями, формування SRS 1.1 та проектування повної стратегії тестування.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1:00 - 2:00 (1 хв)</a:t>
            </a:r>
          </a:p>
          <a:p>
            <a:r>
              <a:t>Доповідач: Олександр Панайотов (Test Lead)</a:t>
            </a:r>
          </a:p>
          <a:p>
            <a:r>
              <a:t>Тези: Ролі чітко розподілено за стандартом дисципліни. Кожен розділ закріплювався мінімум за двома учасниками незалежно, що виключило суб'єктивність та забезпечило виявлення 100% закладених дефектів.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2:00 - 3:30 (1.5 хв)</a:t>
            </a:r>
          </a:p>
          <a:p>
            <a:r>
              <a:t>Доповідач: Денис Бучинський (Test Analyst)</a:t>
            </a:r>
          </a:p>
          <a:p>
            <a:r>
              <a:t>Тези: Зведено 24 дефекти SRS 1.0 — рівно по 4 на кожен критерій (16.67%). Усі дефекти мають точну цитату, пункт чек-листа, обґрунтування та готову формулу виправлення. Результати зафіксовані у requirements-defects.xlsx на 9 аркушах.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3:30 - 4:45 (1.15 хв)</a:t>
            </a:r>
          </a:p>
          <a:p>
            <a:r>
              <a:t>Доповідач: Денис Бучинський (Test Analyst)</a:t>
            </a:r>
          </a:p>
          <a:p>
            <a:r>
              <a:t>Тези: Найбільш показові дефекти — конфлікт бізнес-правил штрафу та блокування акаунтів, розриви шкали ECTS. Усі вони повністю виправлені в SRS 1.1. Журнал змін містить перехресні посилання на кожен дефект.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4:45 - 6:00 (1.15 хв)</a:t>
            </a:r>
          </a:p>
          <a:p>
            <a:r>
              <a:t>Доповідач: Олександр Пархоменко (Auditor-Opponent)</a:t>
            </a:r>
          </a:p>
          <a:p>
            <a:r>
              <a:t>Тези: Як опонент я піддавав сумніву правки команди. Завдяки дискусіям ми не просто прибрали дефекти, а зберегли корисну бізнес-функціональність замовника (наприклад, гібридну модерацію токсичності та мобільні стандарти).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6:00 - 7:15 (1.15 хв)</a:t>
            </a:r>
          </a:p>
          <a:p>
            <a:r>
              <a:t>Доповідач: Володимир Костенко (Test Engineer)</a:t>
            </a:r>
          </a:p>
          <a:p>
            <a:r>
              <a:t>Тези: План тестування містить усі 7 нормативних рівнів: від Unit-тестів математичних алгоритмів до фінального UAT приймання замовником. Для кожного рівня визначено інструменти, критерії входу/виходу та відповідальних.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7:15 - 8:30 (1.15 хв)</a:t>
            </a:r>
          </a:p>
          <a:p>
            <a:r>
              <a:t>Доповідач: Володимир Костенко (Test Engineer)</a:t>
            </a:r>
          </a:p>
          <a:p>
            <a:r>
              <a:t>Тези: У плані описано 16 типів тестування з конкретними параметрами (JMeter, Playwright, акаунти teacher/student/sandbox24). Окремо обґрунтовано незастосовність інсталяційного та мобільного нативного тестування природою SaaS-платформи.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8:30 - 9:15 (45 сек)</a:t>
            </a:r>
          </a:p>
          <a:p>
            <a:r>
              <a:t>Доповідач: Олександр Кираківський (Scrum Master)</a:t>
            </a:r>
          </a:p>
          <a:p>
            <a:r>
              <a:t>Тези: Усі 21 задача виконана вчасно. У ретроспективі Start/Stop/Continue ми вирішили запровадити автоматизовану матрицю трасування для Спринту 3 та категорично відмовитися від розмитих формулювань у тест-кейсах.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ТАЙМІНГ: 9:15 - 10:00 (45 сек)</a:t>
            </a:r>
          </a:p>
          <a:p>
            <a:r>
              <a:t>Доповідач: Олександр Панайотов (Test Lead)</a:t>
            </a:r>
          </a:p>
          <a:p>
            <a:r>
              <a:t>Тези: Підсумок Спринту 2. Усі вимоги нормативу «5 осіб» перевиконано. Специфікація SRS 1.1 та План тестування повністю готові до розробки тест-кейсів у Спринті 3. Дякуємо за увагу!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37160" cy="47548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КУРС «ТЕХНОЛОГІЇ ЗАБЕЗПЕЧЕННЯ ЯКОСТІ ПРОГРАМНИХ ЗАСОБІВ»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3000" b="1">
                <a:solidFill>
                  <a:srgbClr val="FFFFFF"/>
                </a:solidFill>
              </a:defRPr>
            </a:pPr>
            <a:r>
              <a:t>Звіт за результатами Спринта 2:</a:t>
            </a:r>
            <a:br/>
            <a:r>
              <a:t>«Аудит вимог і стратегія тестування»</a:t>
            </a:r>
          </a:p>
          <a:p>
            <a:pPr>
              <a:spcAft>
                <a:spcPts val="2000"/>
              </a:spcAft>
              <a:defRPr sz="1600">
                <a:solidFill>
                  <a:srgbClr val="CBD5E1"/>
                </a:solidFill>
              </a:defRPr>
            </a:pPr>
            <a:r>
              <a:t>Продукт: «ЕдуПортал» (LMS, Продукт №6) | Команда: EduGuard (Команда F, ФБ-44)</a:t>
            </a:r>
          </a:p>
          <a:p>
            <a:pPr>
              <a:spcAft>
                <a:spcPts val="400"/>
              </a:spcAft>
              <a:defRPr sz="1100" b="1">
                <a:solidFill>
                  <a:srgbClr val="94A3B8"/>
                </a:solidFill>
              </a:defRPr>
            </a:pPr>
            <a:r>
              <a:t>СКЛАД КОМАНДИ ТА РОЛІ В СПРИНТІ 2 (5 ОСІБ):</a:t>
            </a:r>
          </a:p>
          <a:p>
            <a:pPr>
              <a:spcAft>
                <a:spcPts val="200"/>
              </a:spcAft>
              <a:defRPr sz="1200">
                <a:solidFill>
                  <a:srgbClr val="F1F5F9"/>
                </a:solidFill>
              </a:defRPr>
            </a:pPr>
            <a:r>
              <a:t>•  Олександр Панайотов (5ani0chek) — Керівник тестування (Test Lead)</a:t>
            </a:r>
          </a:p>
          <a:p>
            <a:pPr>
              <a:spcAft>
                <a:spcPts val="200"/>
              </a:spcAft>
              <a:defRPr sz="1200">
                <a:solidFill>
                  <a:srgbClr val="F1F5F9"/>
                </a:solidFill>
              </a:defRPr>
            </a:pPr>
            <a:r>
              <a:t>•  Денис Бучинський (Denchik) — Тест-аналітик (Test Analyst)</a:t>
            </a:r>
          </a:p>
          <a:p>
            <a:pPr>
              <a:spcAft>
                <a:spcPts val="200"/>
              </a:spcAft>
              <a:defRPr sz="1200">
                <a:solidFill>
                  <a:srgbClr val="F1F5F9"/>
                </a:solidFill>
              </a:defRPr>
            </a:pPr>
            <a:r>
              <a:t>•  Володимир Костенко (Vov4ik) — Інженер з тестування (Test Engineer)</a:t>
            </a:r>
          </a:p>
          <a:p>
            <a:pPr>
              <a:spcAft>
                <a:spcPts val="200"/>
              </a:spcAft>
              <a:defRPr sz="1200">
                <a:solidFill>
                  <a:srgbClr val="F1F5F9"/>
                </a:solidFill>
              </a:defRPr>
            </a:pPr>
            <a:r>
              <a:t>•  Олександр Пархоменко — Аудитор-опонент (Quality Auditor / Opponent)</a:t>
            </a:r>
          </a:p>
          <a:p>
            <a:pPr>
              <a:spcAft>
                <a:spcPts val="200"/>
              </a:spcAft>
              <a:defRPr sz="1200">
                <a:solidFill>
                  <a:srgbClr val="F1F5F9"/>
                </a:solidFill>
              </a:defRPr>
            </a:pPr>
            <a:r>
              <a:t>•  Олександр Кираківський — Скрам-майстер / Рецензент (Scrum Master / Reviewer)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СПРИНТ 2: АУДИТ ВИМОГ І СТРАТЕГІЯ ТЕСТУВАННЯ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Розподіл обов'язків та правило «Двох аудиторів на розділ»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7550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09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👥 РОЗПОДІЛ РОЛЕЙ У СПРИНТІ 2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Панайотов О. (Test Lead): Декомпозиція замовлення, матриця розділів, модерація зведення, ведення журналу уточнень із Замовником, сценарій Демо.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Бучинський Д. (Test Analyst): Зведення 5 індивідуальних аркушів у Реєстр, дедуплікація, формування виправленої специфікації SRS 1.1 з Change Log.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Костенко В. (Test Engineer): Розробка Плану тестування (test-plan.md): 7 рівнів піраміди тестування, 16 типів тестування, матриця покриття.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Пархоменко О. (Опонент): Роль «Адвоката замовника»: оспорювання сумнівних дефектів, аркуш «Спірні», чек-лист перевірки тест-плану на demo, 5 питань до Демо.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Кираківський О. (Scrum Master): Таблиця задач (tasks.md, 21 задача), щоденні standup, перевірка прив'язки ID дефектів, протокол ретроспективи.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463040"/>
            <a:ext cx="517550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645920"/>
            <a:ext cx="4809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📋 МАТРИЦЯ «ДВОХ АУДИТОРІВ НА РОЗДІЛ»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Кожен розділ SRS 1.0 незалежно перевіряли щонайменше 2 учасники: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📌 Розділ 1 (Вступ, глосарій):</a:t>
            </a:r>
            <a:br/>
            <a:r>
              <a:t>   Аудитори: Панайотов О., Кираківський О.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📌 Розділ 2 (Опис системи, ролі):</a:t>
            </a:r>
            <a:br/>
            <a:r>
              <a:t>   Аудитори: Панайотов О., Бучинський Д., Кираківський О.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📌 Розділ 3 (Функціональні вимоги F):</a:t>
            </a:r>
            <a:br/>
            <a:r>
              <a:t>   Аудитори: Панайотов О., Бучинський Д., Костенко В.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📌 Розділ 4 (Інтерфейс користувача GUI):</a:t>
            </a:r>
            <a:br/>
            <a:r>
              <a:t>   Аудитори: Панайотов О., Костенко В., Пархоменко О.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📌 Розділ 5 (Бізнес-логіка BL Java):</a:t>
            </a:r>
            <a:br/>
            <a:r>
              <a:t>   Аудитори: Бучинський Д., Костенко В., Пархоменко О.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📌 Розділ 6 (Нефункціональні NFR):</a:t>
            </a:r>
            <a:br/>
            <a:r>
              <a:t>   Аудитори: Кираківський О., Пархоменко О., Бучинський 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СПРИНТ 2: АУДИТ ВИМОГ І СТРАТЕГІЯ ТЕСТУВАННЯ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Реєстр дефектів вимог (24 дефекти за 6 критеріями)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11887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145536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ВИЯВЛЕНО ДЕФЕКТІВ</a:t>
            </a:r>
          </a:p>
          <a:p>
            <a:pPr>
              <a:defRPr sz="2000" b="1">
                <a:solidFill>
                  <a:srgbClr val="2563EB"/>
                </a:solidFill>
              </a:defRPr>
            </a:pPr>
            <a:r>
              <a:t>24 дефекти (100%)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Норматив для 5 осіб ≥20 виконано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63040"/>
            <a:ext cx="3328416" cy="11887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554480"/>
            <a:ext cx="3145536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БАЛАНС ЗА 6 КРИТЕРІЯМИ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Рівно по 4 дефекти (16.7%)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Норматив ≥2 на кожен критерій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1188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54480"/>
            <a:ext cx="3145536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ЗВЕДЕНИЙ ФАЙЛ EXCEL</a:t>
            </a:r>
          </a:p>
          <a:p>
            <a:pPr>
              <a:defRPr sz="1700" b="1">
                <a:solidFill>
                  <a:srgbClr val="10B981"/>
                </a:solidFill>
              </a:defRPr>
            </a:pPr>
            <a:r>
              <a:t>requirements-defects.xlsx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9 аркушів із повною аналітикою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10728655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📊 РОЗПОДІЛ ДЕФЕКТІВ ЗА 6 КРИТЕРІЯМИ ЯКОСТІ ВИМОГ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• 1. Однозначність (4 дефекти): F-80 (правило вибору оцінки при спробах); GUI-60 («пароль» vs «кодове слово»); GUI-10 (англійські терміни в укр інтерфейсі); BL-20 (розриви інтервалів ECTS).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• 2. Повнота (4 дефекти): D-10 (посилання на неіснуючий Додаток Б); GUI-30 (відсутність типів і лімітів файлів); F-20 (неописана реакція на помилковий email); BL-50 (ризик null та ділення на 0).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• 3. Несуперечливість (4 дефекти): F-10 vs S-20 (конфлікт 5 спроб на 30 хв vs 3 спроби на 15 хв); F-60 vs BL-30 (штраф 5% vs 10% за день); F-40 vs GUI-50 (кнопка «Зарахувати мене» vs «Приєднатися»); P-20 vs P-10 (1 с без умов vs 3 с під навантаженням).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• 4. Простежуваність (4 дефекти): F-140 (100% дублікат F-30); GUI-40 (колізія дублювання ID для навігації та журналу); Рядок 4.6 (вимога без ID -&gt; GUI-75); D-20 (посилання на неіснуючий GUI-100).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• 5. Здійсненність (4 дефекти): F-90 (абсолютна NLP-фільтрація без хибних спрацювань); F-110 (онлайн-звірка з держреєстром ДРФО); GUI-90 (піксельна ідентичність у всіх браузерах); U-20 (підтримка всіх мов світу).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• 6. Тестопридатність (4 дефекти): F-50 («без помилок за будь-якого наповнення»); GUI-70 («зручно переглядати»); BL-80 («у зручному вигляді» без констант); U-10 («інтуїтивно зрозумілий для всіх»).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СПРИНТ 2: АУДИТ ВИМОГ І СТРАТЕГІЯ ТЕСТУВАННЯ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Ключові інженерні виправлення та специфікація SRS 1.1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7550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09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🔍 ТОП-4 КРИТИЧНІ ДЕФЕКТИ ТА ЇХ ВИПРАВЛЕННЯ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DEF-10 (F-60 vs BL-30) — Штраф за дедлайн:</a:t>
            </a:r>
            <a:br/>
            <a:r>
              <a:t>  Було: у F-60 штраф 5%/день, у модулі BL-30 — 10%/день.</a:t>
            </a:r>
            <a:br/>
            <a:r>
              <a:t>Виправлено: уніфіковано 10% за кожен повний/розпочатий день (макс. 50%), округлення стелею ⌈(Tact - Tdead)/86400⌉.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DEF-09 (F-10 vs S-20) — Політика безпеки входу:</a:t>
            </a:r>
            <a:br/>
            <a:r>
              <a:t>  Було: у F-10 блокування після 5 спроб на 30 хв, у S-20 — після 3 спроб на 15 хв.</a:t>
            </a:r>
            <a:br/>
            <a:r>
              <a:t>Виправлено: суворіший безпековий стандарт S-20 (3 спроби / 15 хв).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DEF-04 (BL-20) — Розриви шкали ECTS:</a:t>
            </a:r>
            <a:br/>
            <a:r>
              <a:t>  Було: оцінки описані цілими числами; для double 94.01..94.99 літери не було.</a:t>
            </a:r>
            <a:br/>
            <a:r>
              <a:t>Виправлено: задано точні напіввідкриті інтервали: [95.0, 100.0] -&gt; A, [85.0, 95.0) -&gt; B.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DEF-06 (GUI-30) — Ліміти файлів звітів:</a:t>
            </a:r>
            <a:br/>
            <a:r>
              <a:t>  Було: «файли дозволених типів» без обмежень.</a:t>
            </a:r>
            <a:br/>
            <a:r>
              <a:t>Виправлено: формати .pdf, .docx, .zip, .java, розмір до 20 МБ, до 5 файлів.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463040"/>
            <a:ext cx="517550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645920"/>
            <a:ext cx="4809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📑 СТРУКТУРА ВИПРАВЛЕНОЇ SRS 1.1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✓ Журнал змін (Change Log): Розміщено на початку документа, таблиця з 24 записів, прив'язка до DEF-01..DEF-24.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✓ Збереження ідентифікаторів: ID вимог не зсувалися; вилученій дублікатом вимозі F-140 присвоєно статус «[ВИЛУЧЕНО ЯК ДУБЛІКАТ F-30]».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✓ Усунення колізій ідентифікаторів: Вимозі журналу оцінок присвоєно ID GUI-45 замість дубліката GUI-40; навігаційній панелі присвоєно GUI-75.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✓ Уніфікація термінів: Повсюдно затверджено єдиний термін «кодове слово курсу» замість «пароль» та «код зарахування».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✓ Готовність до тест-дизайну: SRS 1.1 є стабільним джерелом для побудови тест-кейсів у Спринті 3 та юніт-тестів Java у Спринті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СПРИНТ 2: АУДИТ ВИМОГ І СТРАТЕГІЯ ТЕСТУВАННЯ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Опонування («Адвокат замовника») та аркуш «Спірні»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7550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09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⚖️ ПОЗИЦІЯ АУДИТОРА-ОПОНЕНТА</a:t>
            </a:r>
          </a:p>
          <a:p>
            <a:pPr>
              <a:spcBef>
                <a:spcPts val="700"/>
              </a:spcBef>
              <a:defRPr sz="1050">
                <a:solidFill>
                  <a:srgbClr val="1E293B"/>
                </a:solidFill>
              </a:defRPr>
            </a:pPr>
            <a:r>
              <a:t>• Місія ролі: Захищати інтереси замовника, оспорювати суб'єктивні правки, не допускати «погіршення» продукту під приводом спрощення.</a:t>
            </a:r>
          </a:p>
          <a:p>
            <a:pPr>
              <a:spcBef>
                <a:spcPts val="700"/>
              </a:spcBef>
              <a:defRPr sz="1050">
                <a:solidFill>
                  <a:srgbClr val="1E293B"/>
                </a:solidFill>
              </a:defRPr>
            </a:pPr>
            <a:r>
              <a:t>• Правило відхилення: «16 доведених дефектів кращі за 24 сумнівних». Вимога точного пункту чек-листа та доказу дієвості виправлення.</a:t>
            </a:r>
          </a:p>
          <a:p>
            <a:pPr>
              <a:spcBef>
                <a:spcPts val="700"/>
              </a:spcBef>
              <a:defRPr sz="1050">
                <a:solidFill>
                  <a:srgbClr val="1E293B"/>
                </a:solidFill>
              </a:defRPr>
            </a:pPr>
            <a:r>
              <a:t>• Аркуш «Спірні»: Розглянуто 5 гострих дефектів, проведено аргументовані дискусії з Тест-аналітиком та знайдено збалансовані рішення.</a:t>
            </a:r>
          </a:p>
          <a:p>
            <a:pPr>
              <a:spcBef>
                <a:spcPts val="700"/>
              </a:spcBef>
              <a:defRPr sz="1050">
                <a:solidFill>
                  <a:srgbClr val="1E293B"/>
                </a:solidFill>
              </a:defRPr>
            </a:pPr>
            <a:r>
              <a:t>• Верифікація на стенді: Перевірено 26 контрольних точок виконуваності тест-плану на живому стенді Moodle/EduPortal.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463040"/>
            <a:ext cx="517550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645920"/>
            <a:ext cx="4809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🔥 КЛЮЧОВІ ДИСКУСІЇ ТА РІШЕННЯ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📌 D-01 (F-90, Токсичність на форумі):</a:t>
            </a:r>
            <a:br/>
            <a:r>
              <a:t>   Команда пропонувала повністю зняти автоматизацію. Опонент заперечив: замовник вимагає захисту студентів. Рішення: базовий словник стоп-слів + маркер для модерації викладачем + скарга.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📌 D-02 (GUI-70, Мобільність):</a:t>
            </a:r>
            <a:br/>
            <a:r>
              <a:t>   Опонент вимагав замість загального «зручно» ввести вимірювані стандарти Google Web Vitals: ширина від 375 px, розмір кнопок ≥ 44×44 px.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📌 D-03 (F-110, Онлайн-звірка з ДРФО):</a:t>
            </a:r>
            <a:br/>
            <a:r>
              <a:t>   Команда хотіла спростити до довільного тексту. Опонент заперечив відсутність контролю. Рішення: верифікація деканатом за наказом/студентським.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📌 D-04 (BL-50, Часткові бали тесту):</a:t>
            </a:r>
            <a:br/>
            <a:r>
              <a:t>   Затверджено строгу обробку selected == null (0 балів) та викидання IllegalArgumentException при порожньому списку правильних відповідей.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СПРИНТ 2: АУДИТ ВИМОГ І СТРАТЕГІЯ ТЕСТУВАННЯ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План тестування продукту: 7 рівнів піраміди тестування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🏛️ СПЕЦИФІКАЦІЯ ВСІХ 7 ОБОВ'ЯЗКОВИХ РІВНІВ ТЕСТУВАННЯ (100% ПОКРИТТЯ)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🔹 Рівень 1. Модульне (Unit) [P0 (Blocker)]: Ізольована перевірка Java-модулів бізнес-логіки (GradeCalculator, QuizScorer, EnrollmentValidator).  |  Інструменти: JUnit 5, Mockito, JaCoCo (покриття ліній ≥85%)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🔹 Рівень 2. Інтеграційне [P0 (Blocker)]: Взаємодія бекенд API з БД PostgreSQL 15, кешем Redis 7 та зовнішніми поштовими шлюзами.  |  Інструменти: REST-Assured, Testcontainers, Postman Newman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🔹 Рівень 3. Приймальне до тестування (Smoke) [P0 (Blocker)]: Санітарний прогін ключових маршрутів (вхід, відкриття курсу, запуск тесту, здача завдання) після білду.  |  Інструменти: Playwright, Headless Chromium, curl, Bash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🔹 Рівень 4. Системне (System) [P1 (High)]: Наскрізна верифікація бізнес-сценаріїв користувачів усіх 4 ролей (студент, викладач, менеджер, адмін).  |  Інструменти: Playwright Test Runner, Chrome, Firefox, Safari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🔹 Рівень 5. Альфа (Alpha) [P1 (High)]: Внутрішнє тестування функціональності командою QA та викладачами на стенді Staging.  |  Інструменти: Staging Server, тестові акаунти teacher/student/manager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🔹 Рівень 6. Бета (Beta) [P2 (Medium)]: Дослідна експлуатація пілотною групою реальних користувачів (50 викладачів, 200 студентів ЗВО).  |  Інструменти: Production-like Beta Sandbox, форма зворотного зв'язку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🔹 Рівень 7. Приймальне замовником (UAT) [P0 (Blocker)]: Валідація виконання договірних вимог представником замовника перед впровадженням.  |  Інструменти: UAT Verification Checklist, підписання акту прийняття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СПРИНТ 2: АУДИТ ВИМОГ І СТРАТЕГІЯ ТЕСТУВАННЯ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Типи тестування для «ЕдуПортал» (16 застосовних + 2 незастосовні)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4008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🎯 16 ЗАСТОСОВНИХ ТИПІВ ТЕСТУВАННЯ (НОРМАТИВ ≥15)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1. Функціональне &amp; Граничних значень:</a:t>
            </a:r>
            <a:br/>
            <a:r>
              <a:t>  GradeCalculator (межі ECTS 59.99/60.00, 89.99/90.00), завантаження файлів (19.99 МБ vs 20.01 МБ).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2. Навантажувальне &amp; Стресове:</a:t>
            </a:r>
            <a:br/>
            <a:r>
              <a:t>  JMeter: 200 одночасних студентів на тестах (час відповіді ≤3 с, 0 втрат спроб), пік до 400 юзерів.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3. Захищеності (Security):</a:t>
            </a:r>
            <a:br/>
            <a:r>
              <a:t>  Перевірка блокування за Brute-Force (S-20: 3 спроби / 15 хв), захист від IDOR та SQLi/XSS.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4. Умов гонок (Race Conditions):</a:t>
            </a:r>
            <a:br/>
            <a:r>
              <a:t>  Самозарахування останніх 2 вільних місць на курсі 50 паралельними студентами (EnrollmentValidator).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5. Відновлення (Failover):</a:t>
            </a:r>
            <a:br/>
            <a:r>
              <a:t>  Збереження стану та відліку серверного таймера тесту при втраті зв'язку або закритті вкладки.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6. GUI &amp; Кросбраузерне &amp; Usability:</a:t>
            </a:r>
            <a:br/>
            <a:r>
              <a:t>  Chrome, Firefox, Edge; адаптивна мобільна версія (375–1920 px); виконання сценарію входу ≤2 хв.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63040"/>
            <a:ext cx="414497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645920"/>
            <a:ext cx="37792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🚫 ОБҐРУНТУВАННЯ НЕЗАСТОСОВНИХ ТИПІВ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❌ 1. Інсталяційне тестування:</a:t>
            </a:r>
            <a:br/>
            <a:r>
              <a:t>   «ЕдуПортал» є хмарним SaaS веб-застосунком. Кінцеві користувачі не мають інсталяційного пакету (.msi/.exe/.apk). Розгортання контейнерів на сервері покривається конфігураційним тестуванням.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❌ 2. Мобільне нативне тестування:</a:t>
            </a:r>
            <a:br/>
            <a:r>
              <a:t>   Продукт не розробляє нативних додатків під iOS (Swift) чи Android (Kotlin). Мобільний доступ реалізовано через адаптивний веб-інтерфейс (Responsive Web Design), що верифікується кросбраузерним тестуванням.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СПРИНТ 2: АУДИТ ВИМОГ І СТРАТЕГІЯ ТЕСТУВАННЯ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Управління спринтом (tasks.md) та Ретроспектива (retro-sprint2.md)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📊 ДОШКА ЗАДАЧ (TASKS.MD)</a:t>
            </a:r>
          </a:p>
          <a:p>
            <a:pPr>
              <a:spcBef>
                <a:spcPts val="700"/>
              </a:spcBef>
              <a:defRPr sz="1000">
                <a:solidFill>
                  <a:srgbClr val="1E293B"/>
                </a:solidFill>
              </a:defRPr>
            </a:pPr>
            <a:r>
              <a:t>✓ Декомпозовано 21 задачу (TSK-01..TSK-21).</a:t>
            </a:r>
          </a:p>
          <a:p>
            <a:pPr>
              <a:spcBef>
                <a:spcPts val="700"/>
              </a:spcBef>
              <a:defRPr sz="1000">
                <a:solidFill>
                  <a:srgbClr val="1E293B"/>
                </a:solidFill>
              </a:defRPr>
            </a:pPr>
            <a:r>
              <a:t>✓ Статус виконання: 21 виконано (100%), 0 заблоковано, 0 прострочено.</a:t>
            </a:r>
          </a:p>
          <a:p>
            <a:pPr>
              <a:spcBef>
                <a:spcPts val="700"/>
              </a:spcBef>
              <a:defRPr sz="1000">
                <a:solidFill>
                  <a:srgbClr val="1E293B"/>
                </a:solidFill>
              </a:defRPr>
            </a:pPr>
            <a:r>
              <a:t>✓ Проведено 9 асинхронних standup-зустрічей у Telegram щодня до 11:00.</a:t>
            </a:r>
          </a:p>
          <a:p>
            <a:pPr>
              <a:spcBef>
                <a:spcPts val="700"/>
              </a:spcBef>
              <a:defRPr sz="1000">
                <a:solidFill>
                  <a:srgbClr val="1E293B"/>
                </a:solidFill>
              </a:defRPr>
            </a:pPr>
            <a:r>
              <a:t>✓ 3 синхронні сесії: планування (30 хв), зведення дефектів (60 хв), репетиція Демо (45 хв).</a:t>
            </a:r>
          </a:p>
          <a:p>
            <a:pPr>
              <a:spcBef>
                <a:spcPts val="700"/>
              </a:spcBef>
              <a:defRPr sz="1000">
                <a:solidFill>
                  <a:srgbClr val="1E293B"/>
                </a:solidFill>
              </a:defRPr>
            </a:pPr>
            <a:r>
              <a:t>✓ Усі задачі перевірені та підтверджені Скрам-майстром.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64592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🟢 START &amp; CONTINUE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Почати проєктувати тест-кейси на етапі вичитки вимог (Test-Driven QA).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Почати вести автоматизовану матрицю простежуваності US &lt;-&gt; SRS &lt;-&gt; Test Case ID.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Проводити репетиції бліцу за 2 дні до Демо.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Продовжувати якісне опонування («Адвокат замовника»).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Продовжувати взаємодопомогу та високу інженерну культуру документування.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4592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🔴 STOP &amp; РІШЕННЯ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Припинити використання слів-маркерів («зручно», «швидко», «без помилок») у вимогах і тест-планах.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Припинити залишати фінальне форматування документації на останній вечір перед здачею.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Рішення на Спринт 3: автоматизувати лінтинг markdown-файлів через GitHub Actions.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Скласти беклог із 40+ тест-кейсів за техніками граничних значень та класів еквівалентності.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ПІДСУМКИ СПРИНТА 2</a:t>
            </a:r>
          </a:p>
          <a:p>
            <a:pPr>
              <a:spcBef>
                <a:spcPts val="800"/>
              </a:spcBef>
              <a:spcAft>
                <a:spcPts val="1600"/>
              </a:spcAft>
              <a:defRPr sz="2800" b="1">
                <a:solidFill>
                  <a:srgbClr val="FFFFFF"/>
                </a:solidFill>
              </a:defRPr>
            </a:pPr>
            <a:r>
              <a:t>Команда EduGuard успішно виконала Спринт 2!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</a:defRPr>
            </a:pPr>
            <a:r>
              <a:t>✓  100% виконання Definition of Done для команди з 5 осіб (усі нормативні документи в docs/sprint2/).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</a:defRPr>
            </a:pPr>
            <a:r>
              <a:t>✓  24 дефекти SRS 1.0 виявлено та класифіковано (рівно по 4 на кожен із 6 критеріїв якості вимог).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</a:defRPr>
            </a:pPr>
            <a:r>
              <a:t>✓  Випущено виправлену специфікацію SRS 1.1 з вичерпним Change Log (збережено всі стабільні ID вимог).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</a:defRPr>
            </a:pPr>
            <a:r>
              <a:t>✓  Спроєктовано повний План тестування (7 рівнів піраміди тестування, 16 типів тестування) під модулі GradeCalculator, QuizScorer, EnrollmentValidator.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</a:defRPr>
            </a:pPr>
            <a:r>
              <a:t>✓  Проведено результативну процедуру опонування («Адвокат замовника») з аркушем «Спірні» та чек-листом demo-стенду.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</a:defRPr>
            </a:pPr>
            <a:r>
              <a:t>✓  Репозиторій на GitHub повністю синхронізовано: github.com/Sasha26062007/EDUPORTAL</a:t>
            </a:r>
          </a:p>
          <a:p>
            <a:pPr>
              <a:spcBef>
                <a:spcPts val="1800"/>
              </a:spcBef>
              <a:defRPr sz="1600" b="1">
                <a:solidFill>
                  <a:srgbClr val="34D399"/>
                </a:solidFill>
              </a:defRPr>
            </a:pPr>
            <a:r>
              <a:t>Дякуємо за увагу! Готові до теоретичного бліцу та запитань Замовника.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