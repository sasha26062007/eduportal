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" cy="4846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КУРС «ТЕХНОЛОГІЇ ЗАБЕЗПЕЧЕННЯ ЯКОСТІ ПРОГРАМНИХ ЗАСОБІВ»</a:t>
            </a:r>
          </a:p>
          <a:p>
            <a:pPr>
              <a:spcAft>
                <a:spcPts val="12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Звіт за результатами Спринту 3: «Тест-кейси та звіти про дефекти»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Продукт: Освітня LMS «ЕдуПортал» (Продукт №6, slug: eduportal)</a:t>
            </a:r>
            <a:br/>
            <a:r>
              <a:t>Команда: EduGuard (Команда F, група ФБ-44, норматив 5 осіб) | Репозиторій: github.com/Sasha26062007/EDUPORTAL</a:t>
            </a:r>
          </a:p>
          <a:p>
            <a:pPr>
              <a:spcAft>
                <a:spcPts val="80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СКЛАД КОМАНДИ ТА РОТАЦІЯ РОЛЕЙ У СПРИНТІ 3 (НОРМАТИВ 5 ОСІБ):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 Денис Бучинський (Denchik) — Керівник тестування (Test Lead) — декомпозиція, архітектура, README, захист Демо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 Володимир Костенко (Vov4ik) — Тест-аналітик (Test Analyst) — проєктування 30 тест-кейсів, BVA/EP, матриця RTM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 Олександр Пархоменко (Parkhomenko0) — Інженер з тестування (Test Engineer) — повне виконання Run 1, 10 баг-репортів, скріншоти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 Олександр Кираківський (KyrakivskyiO) — Аудитор-опонент (Quality Auditor) — сліпий аудит дефектів, перевірка DoD, контраргументи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 Олександр Панайотов (5ani0chek) — Скрам-майстер / Рецензент (Scrum Master / Reviewer) — 100% рецензування, фасилітація, ретроспектива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СПРИНТ 3: ОРГАНІЗАЦІЯ ТА УПРАВЛІННЯ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Ротація ролей та виконання дошки задач (task-board.md)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2563EB"/>
                </a:solidFill>
              </a:defRPr>
            </a:pPr>
            <a:r>
              <a:t>👥 ПЛАНОВА РОТАЦІЯ РОЛЕЙ У СПРИНТІ 3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📌 Денис Бучинський (Test Lead):</a:t>
            </a:r>
            <a:br/>
            <a:r>
              <a:t>Затвердження таксономії (TC-01..30, BUG-01..10), декомпозиція замовлення, оформлення рішень щодо непокритих вимог, фінальне зведення README та захист Демо.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📌 Володимир Костенко (Test Analyst):</a:t>
            </a:r>
            <a:br/>
            <a:r>
              <a:t>Розробка 30 тест-кейсів у Excel та Markdown за комбінованими техніками тест-дизайну, побудова матриці простежуваності 40 вимог SRS 1.1.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📌 Олександр Пархоменко (Test Engineer):</a:t>
            </a:r>
            <a:br/>
            <a:r>
              <a:t>Налаштування тестових даних на стенді, виконання Run 1 (30 кейсів), оформлення 10 баг-репортів з реальними скріншотами та логами помилок.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📌 Олександр Кираківський (Auditor):</a:t>
            </a:r>
            <a:br/>
            <a:r>
              <a:t>Проведення сліпого аудиту 3 багів, контроль критеріїв Definition of Done, аналіз ризиків Замовника.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📌 Олександр Панайотов (Scrum Master):</a:t>
            </a:r>
            <a:br/>
            <a:r>
              <a:t>Суцільне рецензування 30 тест-кейсів за чеклистом 13.1 та 10 багів за 13.2, standup-зустрічі, підсумкова ретроспектива.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2563EB"/>
                </a:solidFill>
              </a:defRPr>
            </a:pPr>
            <a:r>
              <a:t>📊 ДОШКА ЗАДАЧ (TASK-BOARD.MD) ТА ДИНАМІКА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✓  Повна декомпозиція робіт:</a:t>
            </a:r>
            <a:br/>
            <a:r>
              <a:t>Створено та розплановано 24 інженерні задачі (TSK-01..TSK-24), що охоплюють підготовку, дизайн, рев'ю, прогін, аудит та зведення.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✓  100% виконання задач:</a:t>
            </a:r>
            <a:br/>
            <a:r>
              <a:t>Усі 24 задачі переведено в статус DONE. Жодна задача не була прострочена або заблокована на момент фіналізації.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✓  Щоденні стендапи та синхронізація:</a:t>
            </a:r>
            <a:br/>
            <a:r>
              <a:t>Проведено щоденні асинхронні та синхронні стендапи в Telegram. Всі блокери (блокуючі баги) вирішувалися протягом 2-3 годин.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✓  Відсутність саморецензування:</a:t>
            </a:r>
            <a:br/>
            <a:r>
              <a:t>Суворо дотримано принцип розділення обов'язків: автор тест-кейсів (Костенко) не рецензував свою роботу; рев'ю виконував Панайотов; сліпий аудит — Кираківський.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✓  Інтеграція з репозиторієм GitHub:</a:t>
            </a:r>
            <a:br/>
            <a:r>
              <a:t>Всі артефакти розміщені в папці docs/sprint3/, шаблон баг-репорту додано до .github/ISSUE_TEMPLATE/, а баги прив'язано до міток sprint:3.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СПРИНТ 3: ТЕСТ-ДИЗАЙН ТА ПОКРИТТЯ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30 автономних тест-кейсів та 100% покриття вимог SRS 1.1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39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СПРОЄКТОВАНО ТЕСТ-КЕЙСІВ</a:t>
            </a:r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t>30 тестів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Норматив ≥20 перевиконано на 150%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1345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139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ПОКРИТТЯ ВИМОГ SRS 1.1</a:t>
            </a:r>
          </a:p>
          <a:p>
            <a:pPr>
              <a:defRPr sz="1800" b="1">
                <a:solidFill>
                  <a:srgbClr val="16A34A"/>
                </a:solidFill>
              </a:defRPr>
            </a:pPr>
            <a:r>
              <a:t>100% покриття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Усі 40 вимог покрито хоча б 1 кейсом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1345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54480"/>
            <a:ext cx="3139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ТЕХНІКИ ТЕСТ-ДИЗАЙНУ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6 комбінацій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BVA, EP, Decision Tables, Use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728655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📋 СТРУКТУРА 30 ТЕСТ-КЕЙСІВ ЗА ФУНКЦІОНАЛЬНИМИ МОДУЛЯМИ (TEST-CASES.XLSX)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🔹 Модуль 1: Автентифікація, безпека та доступ (TC-01..TC-05):</a:t>
            </a:r>
            <a:br/>
            <a:r>
              <a:t>    Вимоги S-20, F-10, F-20, GUI-10, GUI-20. Перевірка валідації паролів, обмеження 3 хибних спроб (Brute-Force lock), відновлення доступу за email, розмежування сесій користувачів.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🔹 Модуль 2: Каталог курсів, самозарахування та ліміти місць (TC-06..TC-10):</a:t>
            </a:r>
            <a:br/>
            <a:r>
              <a:t>    Вимоги F-30, F-40, F-50, BL-10, GUI-30. Пошук курсів за фільтрами, самозарахування за секретним ключем, перевірка ліміту місткості (граничні значення n, n+1), доступ до прихованих матеріалів.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🔹 Модуль 3: Подання робіт, типи файлів та валідація розміру (TC-11..TC-16):</a:t>
            </a:r>
            <a:br/>
            <a:r>
              <a:t>    Вимоги F-60, GUI-40, BL-20, BL-30. Завантаження дозволених (.pdf, .docx, .zip) та заборонених (.exe, .bat) форматів, BVA валідація розміру (20.00 MB vs 20.01 MB), дедлайни.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🔹 Модуль 4: Оцінювання, перерахунок ECTS та електронний журнал (TC-17..TC-21):</a:t>
            </a:r>
            <a:br/>
            <a:r>
              <a:t>    Вимоги F-70, F-80, BL-40, BL-50, GUI-50. Внесення балів викладачем, 4-точкова BVA шкали ECTS (межі 59.99/60.00 та 94.99/95.00), агрегація сумарних балів без від'ємних значень.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🔹 Модуль 5: Комунікація, форуми, оголошення та сповіщення (TC-22..TC-26):</a:t>
            </a:r>
            <a:br/>
            <a:r>
              <a:t>    Вимоги F-90, F-100, GUI-60, BL-60. Публікація гілок форуму, XSS-фільтрація повідомлень, миттєві email/UI-сповіщення при зміні оцінки, закріплення важливих тем.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🔹 Модуль 6: Профіль, навігація та адаптивність інтерфейсу (TC-27..TC-30):</a:t>
            </a:r>
            <a:br/>
            <a:r>
              <a:t>    Вимоги GUI-70..GUI-90, NFR. Зміна фото профілю (валідація пропорцій), «хлібні крихти» навігації, коректне відображення на мобільних в'юпортах (375px), контрастність WCAG AA.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СПРИНТ 3: ІНЖЕНЕРНИЙ ТЕСТ-ДИЗАЙН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Застосування Boundary Value Analysis, EP та Decision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2563EB"/>
                </a:solidFill>
              </a:defRPr>
            </a:pPr>
            <a:r>
              <a:t>🎯 АНАЛІЗ ГРАНИЧНИХ ЗНАЧЕНЬ ЗА 4 ТОЧКАМИ (BVA)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📌 Розмір завантажуваного файлу (F-60, GUI-40):</a:t>
            </a:r>
            <a:br/>
            <a:r>
              <a:t>Межа: 20.00 МБ (20,971,520 байт)</a:t>
            </a:r>
            <a:br/>
            <a:r>
              <a:t>• min+: 0.01 МБ (Valid)</a:t>
            </a:r>
            <a:br/>
            <a:r>
              <a:t>• nominal: 10.00 МБ (Valid)</a:t>
            </a:r>
            <a:br/>
            <a:r>
              <a:t>• max: 20.00 МБ (Valid, TC-12)</a:t>
            </a:r>
            <a:br/>
            <a:r>
              <a:t>• max+: 20.01 МБ (Invalid, TC-13 — виявлено BUG-004!)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📌 Шкала оцінювання ECTS (F-80, BL-40):</a:t>
            </a:r>
            <a:br/>
            <a:r>
              <a:t>Критична межа між «Fx» (не зараховано) та «E» (зараховано):</a:t>
            </a:r>
            <a:br/>
            <a:r>
              <a:t>• 59.99 балів — оцінка 'Fx', 0 ECTS (TC-18)</a:t>
            </a:r>
            <a:br/>
            <a:r>
              <a:t>• 60.00 балів — оцінка 'E', 60 ECTS (TC-17 — виявлено BUG-006!)</a:t>
            </a:r>
            <a:br/>
            <a:r>
              <a:t>Межа між «B» та «A» (відмінно):</a:t>
            </a:r>
            <a:br/>
            <a:r>
              <a:t>• 94.99 балів — оцінка 'B' | 95.00 балів — оцінка 'A'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📌 Довжина пароля користувача (S-20, GUI-10):</a:t>
            </a:r>
            <a:br/>
            <a:r>
              <a:t>Межі: [8..32] символів</a:t>
            </a:r>
            <a:br/>
            <a:r>
              <a:t>• 7 символів — помилка валідації (TC-01)</a:t>
            </a:r>
            <a:br/>
            <a:r>
              <a:t>• 8 символів — мінімально допустимий (Pass)</a:t>
            </a:r>
            <a:br/>
            <a:r>
              <a:t>• 32 символи — максимально допустимий (Pass)</a:t>
            </a:r>
            <a:br/>
            <a:r>
              <a:t>• 33 символи — обрізання або помилка валідації (TC-02)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2563EB"/>
                </a:solidFill>
              </a:defRPr>
            </a:pPr>
            <a:r>
              <a:t>📊 ТАБЛИЦІ РІШЕНЬ ТА ЕКВІВАЛЕНТНИЙ ПОДІЛ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✓ Таблиця рішень: Штрафи за дедлайн (BL-30):</a:t>
            </a:r>
            <a:br/>
            <a:r>
              <a:t>Комбінація умов «Час здачі» та «Наявність поважної причини»:</a:t>
            </a:r>
            <a:br/>
            <a:r>
              <a:t>• Правило 1: До дедлайну -&gt; Штраф 0%, повний бал (Pass)</a:t>
            </a:r>
            <a:br/>
            <a:r>
              <a:t>• Правило 2: Прострочення на 1 добу без причини -&gt; Штраф -10%</a:t>
            </a:r>
            <a:br/>
            <a:r>
              <a:t>• Правило 3: Прострочення на 3 доби -&gt; Штраф -30% (виявлено BUG-005: штраф не нарахувався!)</a:t>
            </a:r>
            <a:br/>
            <a:r>
              <a:t>• Правило 4: Прострочення з прапорцем поважної причини -&gt; Штраф 0%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✓ Класи еквівалентності розширень файлів:</a:t>
            </a:r>
            <a:br/>
            <a:r>
              <a:t>• Дозволені формати: {.pdf, .docx, .zip} -&gt; Успішне збереження</a:t>
            </a:r>
            <a:br/>
            <a:r>
              <a:t>• Заборонені небезпечні скрипти: {.exe, .bat, .php, .js} -&gt; Блокування на рівні клієнта і сервера (TC-14)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✓ Матриця контролю доступу (RBAC):</a:t>
            </a:r>
            <a:br/>
            <a:r>
              <a:t>Комбінації ролей: Гість, Студент, Викладач, Менеджер, Адмін.</a:t>
            </a:r>
            <a:br/>
            <a:r>
              <a:t>Перевірка ізоляції журналів оцінок: студент бачить лише свої бали (TC-19); викладач редагує лише свій курс (TC-17).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СПРИНТ 3: КОНТРОЛЬ ЯКОСТІ ТА РЕЦЕНЗУВАННЯ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Суцільне рецензування тест-кейсів за Чек-листом 13.1 (О. Панайотов)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📋 8 ОБОВ'ЯЗКОВИХ ПУНКТІВ ЧЕК-ЛИСТА 13.1 (100% ВАЛІДАЦІЯ)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1. Повнота обов'язкових полів: Усі 30 тест-кейсів містять ID, зв'язок з SRS, назву, передумови, пронумеровані кроки, очікуваний результат, пріоритет, тип, автора та статус.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2. Пряма простежуваність (SRS 1.1): Кожен кейс верифікує конкретну вимогу SRS 1.1 без абстрактних посилань (F-10..F-130, BL-10..80, GUI-10..90).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3. Атомарність та строгий старт: Крок 1 завжди вказує URL точки входу; фінальний крок — чітку фіксацію стану. Відсутні фрази «перевірити, що...» всередині дій.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4. Точні тестові дані (Test Data): Використано конкретні тестові логіни (student, teacher), конкретні паролі (QA-Pass-2026!), точні межі чисел (20.00 MB vs 20.01 MB).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5. Однозначний очікуваний результат: Виключено розмиті формулювання («працює коректно»). Зазначено системний текст помилок, код відповіді, URL перенаправлення.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6. Структурована назва кейсу: Формат: [Модуль] Дія за умови [Умова] з результатом [Результат].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7. Лаконічні та достатні передумови: Зазначено стан бази, роль користувача, наявність курсу/завдання.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8. Відсутність дублювання: Кожен кейс перевіряє унікальну комбінацію або граничний випадок.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37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6A34A"/>
                </a:solidFill>
              </a:defRPr>
            </a:pPr>
            <a:r>
              <a:t>🔍 РЕЗУЛЬТАТИ РЕЦЕНЗУВАННЯ ТА ВИПРАВЛЕННЯ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📌 TC-03 (Brute Force lock):</a:t>
            </a:r>
            <a:br/>
            <a:r>
              <a:t>Було: загальний опис 3 спроб введення.</a:t>
            </a:r>
            <a:br/>
            <a:r>
              <a:t>Виправлено: розписано 3 кроки з неправильним паролем і 15-хвилинним тайм-аутом блокування.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📌 TC-09 (Реєстраційний ключ курсу):</a:t>
            </a:r>
            <a:br/>
            <a:r>
              <a:t>Було: не вказано регістр символів ключа.</a:t>
            </a:r>
            <a:br/>
            <a:r>
              <a:t>Виправлено: додано перевірку чутливості до регістру ('qa-pass-2026' vs 'QA-Pass-2026').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📌 TC-13 (BVA розміру файлу):</a:t>
            </a:r>
            <a:br/>
            <a:r>
              <a:t>Було: перевірка 20 МБ проти 21 МБ (груба межа).</a:t>
            </a:r>
            <a:br/>
            <a:r>
              <a:t>Виправлено: встановлено крок у 0.01 МБ (20.00 МБ vs 20.01 МБ за стандартом IEEE).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📌 TC-20 (Помилка при порожньому виборі):</a:t>
            </a:r>
            <a:br/>
            <a:r>
              <a:t>Було: не зафіксовано поведінку без виділення записів.</a:t>
            </a:r>
            <a:br/>
            <a:r>
              <a:t>Виправлено: додано очікування NullPointerException або блокування кнопки «Експорт».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📌 Підсумок рецензування:</a:t>
            </a:r>
            <a:br/>
            <a:r>
              <a:t>100% тест-кейсів узгоджено між Тест-аналітиком (Костенко) та Рецензентом (Панайотов). Статус: APPROVED ✓.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СПРИНТ 3: ВИКОНАННЯ ТЕСТІВ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Журнал виконання Run 1: 18 Passed, 10 Failed, 2 Blocked (execution-log.xlsx)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39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PASSED (УСПІШНО)</a:t>
            </a:r>
          </a:p>
          <a:p>
            <a:pPr>
              <a:defRPr sz="1800" b="1">
                <a:solidFill>
                  <a:srgbClr val="16A34A"/>
                </a:solidFill>
              </a:defRPr>
            </a:pPr>
            <a:r>
              <a:t>18 тестів (60.0%)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Базова функціональність платформи стабільна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1345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139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FAILED (ДЕФЕКТИ)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10 тестів (33.3%)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Оформлено 10 баг-репортів BUG-001..BUG-010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1345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54480"/>
            <a:ext cx="3139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BLOCKED (ЗАБЛОКОВАНО)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2 тести (6.7%)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TC-16 блоковано BUG-004, TC-26 — BUG-010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728655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🖥️ СЕРЕДОВИЩЕ ТЕСТУВАННЯ ТА АНАЛІЗ ЗАБЛОКОВАНИХ КЕЙСІВ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📌 Тестовий стенд LMS «ЕдуПортал» v2.4-qa-rel:</a:t>
            </a:r>
            <a:br/>
            <a:r>
              <a:t>• Базове ПЗ: Ubuntu 22.04 LTS x64, Apache 2.4.52, MariaDB 10.11.6, PHP 8.2.14.</a:t>
            </a:r>
            <a:br/>
            <a:r>
              <a:t>• Клієнтське середовище: Google Chrome 129.0.6668.71 (Windows 11 x64, 1920x1080), Mozilla Firefox 131.0, Edge 129.0.</a:t>
            </a:r>
            <a:br/>
            <a:r>
              <a:t>• Тестова БД: Наповнена демо-курсами, 50 студентами, 5 викладачами та матрицею завдань.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📌 Аналіз заблокованого кейсу TC-16 (Blocked by BUG-004):</a:t>
            </a:r>
            <a:br/>
            <a:r>
              <a:t>• Причина блокування: Через критичний дефект BUG-004 (Upload Bypass файлів &gt;20.00 МБ) сервер переповнює буфер і повертає HTTP 500 замість валідації повторного подання чернетки.</a:t>
            </a:r>
            <a:br/>
            <a:r>
              <a:t>• Рішення Test Lead: Присвоєно статус Blocked. Неможливо об'єктивно оцінити UI збереження чернетки до виправлення завантажувача.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📌 Аналіз заблокованого кейсу TC-26 (Blocked by BUG-010):</a:t>
            </a:r>
            <a:br/>
            <a:r>
              <a:t>• Причина блокування: Через витік пам'яті у websocket-сервері нотифікацій (BUG-010) сесія користувача розривається під час масового розсилання сповіщень.</a:t>
            </a:r>
            <a:br/>
            <a:r>
              <a:t>• Рішення Test Lead: Присвоєно статус Blocked. Перевірка групових сповіщень перенесена на ретест після хотфіксу v2.4.1.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📌 Резюме першого прогону:</a:t>
            </a:r>
            <a:br/>
            <a:r>
              <a:t>Високий відсоток Failed (33.3%) та Blocked (6.7%) зумовлений глибоким BVA-дизайном тестів, що цілеспрямовано шукав вразливі місця в бізнес-логіці.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СПРИНТ 3: ЗВІТИ ПРО ДЕФЕКТИ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Реєстр 10 виявлених баг-репортів та аналіз серйозності (Severity/Priority)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DC2626"/>
                </a:solidFill>
              </a:defRPr>
            </a:pPr>
            <a:r>
              <a:t>🔴 КРИТИЧНІ ТА ВИСОКОПРІОРИТЕТНІ БАГИ (P1 / HIGH)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⚠️ BUG-001 (Critical / P1) — SQLSTATE[23000] Crash:</a:t>
            </a:r>
            <a:br/>
            <a:r>
              <a:t>При спробі скидання пароля для облікового запису без email сервер викликає неперехоплене виключення БД і відображає stack trace користувачу (S-20, TC-04).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⚠️ BUG-002 (Major / P1) — Витік доступу до іспиту:</a:t>
            </a:r>
            <a:br/>
            <a:r>
              <a:t>Студент отримує прямий доступ за URL до неопублікованого екзаменаційного тесту через відсутність перевірки стану is_published у контролері (F-50, TC-10).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⚠️ BUG-004 (Critical / P1) — File Size Upload Bypass:</a:t>
            </a:r>
            <a:br/>
            <a:r>
              <a:t>Система приймає файл розміром 20.01 МБ в обхід встановленого обмеження 20.00 МБ через округлення ceil() у JS-валідаторі (F-60, TC-13).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⚠️ BUG-006 (Major / P2) — Помилка шкали ECTS (59.99 б.):</a:t>
            </a:r>
            <a:br/>
            <a:r>
              <a:t>При результаті 59.99 балів алгоритм виставляє оцінку 'E' замість 'Fx', зараховуючи предмет студенту всупереч стандарту МОН (F-80, BL-40, TC-18).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D97706"/>
                </a:solidFill>
              </a:defRPr>
            </a:pPr>
            <a:r>
              <a:t>🟡 ДЕФЕКТИ СЕРЕДНЬОГО ТА КОСМЕТИЧНОГО РІВНІВ (P2/P3)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📌 BUG-003 (Medium / P2) — Нескидання лічильника спроб:</a:t>
            </a:r>
            <a:br/>
            <a:r>
              <a:t>Після успішного входу лічильник помилкових спроб введення пароля не скидається на 0, блокуючи студента на 4-й день (S-20, TC-03).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📌 BUG-005 (Major / P2) — Відсутність штрафу за дедлайн:</a:t>
            </a:r>
            <a:br/>
            <a:r>
              <a:t>При поданні роботи із запізненням на 3 доби штраф -30% не віднімається від фінальної оцінки студента (BL-30, TC-15).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📌 BUG-007 (Medium / P2) — Stored XSS у назві теми форуму:</a:t>
            </a:r>
            <a:br/>
            <a:r>
              <a:t>Теги &lt;script&gt;alert(1)&lt;/script&gt; виконуються в браузері викладача через відсутність htmlspecialchars() у шаблонізаторі (F-90, TC-23).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📌 BUG-008..BUG-010 (Minor / P3) — UI та сповіщення:</a:t>
            </a:r>
            <a:br/>
            <a:r>
              <a:t>BUG-008: Дублювання email-повідомлень. BUG-009: Зміщення модального вікна на екранах &lt;375px. BUG-010: Зависання websocket-з'єднання сповіщень.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СПРИНТ 3: НЕЗАЛЕЖНИЙ АУДИТ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Сліпий аудит дефектів (audit.md) та позиція Опонента (О. Кираківський)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🔍 СЛІПЕ ВІДТВОРЕННЯ ДЕФЕКТІВ (BLIND REPRODUCTION)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✓ Методологія незалежної перевірки:</a:t>
            </a:r>
            <a:br/>
            <a:r>
              <a:t>Аудитор-опонент (Кираківський) отримав баг-репорти без участі автора (Пархоменко) та провів сліпе відтворення 3 випадково вибраних дефектів.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✓ 1. BUG-002 (Прямий доступ до іспиту):</a:t>
            </a:r>
            <a:br/>
            <a:r>
              <a:t>Статус відтворення: ПІДТВЕРДЖЕНО (100%)</a:t>
            </a:r>
            <a:br/>
            <a:r>
              <a:t>Кроки повністю зрозумілі. Відкрито іспит зі статусом draft напряму через URL. Захист прав відсутній.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✓ 2. BUG-005 (Відсутність штрафу за дедлайн):</a:t>
            </a:r>
            <a:br/>
            <a:r>
              <a:t>Статус відтворення: ПІДТВЕРДЖЕНО (100%)</a:t>
            </a:r>
            <a:br/>
            <a:r>
              <a:t>Подано роботу із запізненням на 72 години. Оцінка викладача 85 балів внесена без вирахування 30% штрафу.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✓ 3. BUG-007 (XSS у темі форуму):</a:t>
            </a:r>
            <a:br/>
            <a:r>
              <a:t>Статус відтворення: ПІДТВЕРДЖЕНО (100%)</a:t>
            </a:r>
            <a:br/>
            <a:r>
              <a:t>Скрипт успішно виконав alert('XSS') у Chrome 129 та Firefox 131. Вразливість підтверджено без додаткових дій.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✓ Підсумок аудиту:</a:t>
            </a:r>
            <a:br/>
            <a:r>
              <a:t>3 з 3 (100%) дефектів відтворено з першої спроби. Баг-репорти відповідають найвищому рівню інженерної точності.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🛡️ КОНТРАРГУМЕНТИ ТА ЗАХИСТ ВІД ПРЕТЕНЗІЙ ЗАМОВНИКА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📌 Претензія: «Чому аж 10 дефектів? Розробники погано працювали?»</a:t>
            </a:r>
            <a:br/>
            <a:r>
              <a:t>Контраргумент: Ні. Тест-дизайн був націлений на екстремальні граничні значення (BVA 20.00/20.01 МБ, 59.99/60.00 балів) та ін'єкції. Це демонструє якість тестування, а не провал розробки.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📌 Претензія: «Чи можна релізити продукт у прод зараз?»</a:t>
            </a:r>
            <a:br/>
            <a:r>
              <a:t>Контраргумент: Категорично ні. Наявність BUG-001 (SQL crash), BUG-002 (витік екзаменів) та BUG-004 (upload bypass) блокує реліз відповідно до Політики якості до випуску хотфіксу v2.4.1.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📌 Претензія: «Чи справді потрібен статус Blocked для 2 кейсів?»</a:t>
            </a:r>
            <a:br/>
            <a:r>
              <a:t>Контраргумент: Так. TC-16 неможливо перевірити, бо завантажувач падає з 500 помилкою; TC-26 падає через розрив websocket-сесії. Штучне проставлення Fail/Pass спотворило б метрики.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📌 Готовність до бліцу</a:t>
            </a:r>
            <a:br/>
            <a:r>
              <a:t>Команда підготувала вичерпний конспект із 35 теоретичних питань за темами тест-дизайну та життєвого циклу дефектів.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СПРИНТ 3: ПІДСУМКИ ТА РЕТРОСПЕКТИВА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Виконання Definition of Done (DoD) та ретроспектива Спринту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6A34A"/>
                </a:solidFill>
              </a:defRPr>
            </a:pPr>
            <a:r>
              <a:t>✅ ВИКОНАННЯ DEFINITION OF DONE (10 З 10 ПУНКТІВ)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1. Кількість тест-кейсів: Створено 30 тест-кейсів (вимога для 5 осіб: ≥20) — ВИКОНАНО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2. Застосування технік тест-дизайну: BVA 4-точки, EP, Таблиці рішень, Use Case — ВИКОНАНО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3. Формати артефактів тест-кейсів: test-cases.xlsx (3 аркуші) та test-cases.md — ВИКОНАНО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4. 100% рецензування тест-кейсів: Перевірено Рецензентом (Панайотов) за чеклистом 13.1 — ВИКОНАНО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5. Прогін тестування (Run 1): 30 виконано (18 Pass, 10 Fail, 2 Blocked) в execution-log.xlsx — ВИКОНАНО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6. Звіти про дефекти: 10 баг-репортів BUG-001..BUG-010 зі скріншотами — ВИКОНАНО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7. Шаблон GitHub Bug Report: Додано до .github/ISSUE_TEMPLATE/bug_report.md — ВИКОНАНО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8. Сліпий аудит дефектів: Проведено Аудитором (Кираківський) для 3 багів — ВИКОНАНО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9. Ретроспектива команди: Проведено Скрам-майстром у форматі Start/Stop/Continue — ВИКОНАНО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✓ 10. Презентація та репозиторій: Презентація PPTX, повний мердж у GitHub main — ВИКОНАНО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🔄 РЕТРОСПЕКТИВА (START / STOP / CONTINUE)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🟢 START (Почати у Спринті 4)</a:t>
            </a:r>
            <a:br/>
            <a:r>
              <a:t>• Автоматизувати стабільний регресійний пул із 18 успішних тест-кейсів через Playwright та Postman.</a:t>
            </a:r>
            <a:br/>
            <a:r>
              <a:t>• Запровадити автоматичний смоук-тест тестового стенду перед початком ручних прогонів.</a:t>
            </a:r>
            <a:br/>
            <a:r>
              <a:t>• Налаштувати pre-commit перевірку наявності файлів скріншотів у репозиторії.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🔴 STOP (Припинити робити)</a:t>
            </a:r>
            <a:br/>
            <a:r>
              <a:t>• Припинити блокування пов'язаних тестів без створення швидких тестових фікстур у базі даних (уникати довгих статусів Blocked).</a:t>
            </a:r>
            <a:br/>
            <a:r>
              <a:t>• Припинити використання неоднорідних тестових паролів у документації (стандартизувати на QA-Pass-2026!).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🔵 CONTINUE (Продовжувати робити)</a:t>
            </a:r>
            <a:br/>
            <a:r>
              <a:t>• Зберегти практику сліпого аудиту дефектів іншим учасником команди.</a:t>
            </a:r>
            <a:br/>
            <a:r>
              <a:t>• Продовжувати глибоке BVA-моделювання на рівні сотих часток одиниці виміру.</a:t>
            </a:r>
            <a:br/>
            <a:r>
              <a:t>• Підтримувати суворе peer review документації перед коммітом у репозиторій.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" cy="48463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ПІДСУМКИ СПРИНТУ 3 ТА ПЛАНИ НА СПРИНТ 4</a:t>
            </a:r>
          </a:p>
          <a:p>
            <a:pPr>
              <a:spcAft>
                <a:spcPts val="16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Команда EduGuard успішно виконала та захистила Спринт 3!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✓  100% виконання критеріїв Definition of Done (DoD) для команди з 5 осіб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✓  Спроєктовано 30 деталізованих тест-кейсів за BVA, EP та Decision Tables (test-cases.xlsx, test-cases.md)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✓  Проведено тестовий прогін Run 1: 18 Passed (60.0%), 10 Failed (33.3%), 2 Blocked (6.7%)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✓  Оформлено 10 вичерпних Bug Reports (BUG-001..BUG-010) зі скріншотами та технічними логами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✓  Проведено сліпий аудит з 100% підтвердженням відтворюваності дефектів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✓  Репозиторій на GitHub повністю синхронізовано: github.com/Sasha26062007/EDUPORTAL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✓  Наступний крок (Спринт 4): «Автоматизація тестування API та UI (Automated Testing &amp; CI/CD)»</a:t>
            </a:r>
          </a:p>
          <a:p>
            <a:br/>
            <a:pPr>
              <a:defRPr sz="1400" b="1">
                <a:solidFill>
                  <a:srgbClr val="3B82F6"/>
                </a:solidFill>
                <a:latin typeface="Calibri"/>
              </a:defRPr>
            </a:pPr>
            <a:r>
              <a:t>Дякуємо за увагу! Готові до бліц-опитування та демонстрації артефактів.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